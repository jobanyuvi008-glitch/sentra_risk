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riskml_logo.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riskml_logo.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riskml_logo.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riskml_logo.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riskml_logo.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riskml_logo.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00000"/>
            <a:ext cx="6500000" cy="4400000"/>
          </a:xfrm>
          <a:prstGeom prst="rect">
            <a:avLst/>
          </a:prstGeom>
          <a:noFill/>
        </p:spPr>
        <p:txBody>
          <a:bodyPr wrap="square" rtlCol="0">
            <a:spAutoFit/>
          </a:bodyPr>
          <a:lstStyle/>
          <a:p>
            <a:pPr>
              <a:lnSpc>
                <a:spcPct val="130000"/>
              </a:lnSpc>
            </a:pPr>
            <a:endParaRPr lang="en-US" dirty="0"/>
          </a:p>
          <a:p>
            <a:pPr marL="285750" indent="-285750" algn="just">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 Statement ID – SIH26105</a:t>
            </a:r>
          </a:p>
          <a:p>
            <a:pPr marL="285750" indent="-285750" algn="just">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 Statement Title- AI-Powered Continuous Cyber Risk Quantification</a:t>
            </a:r>
          </a:p>
          <a:p>
            <a:pPr marL="285750" indent="-285750" algn="just">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Theme- Cybersecurity</a:t>
            </a:r>
          </a:p>
          <a:p>
            <a:pPr marL="285750" indent="-285750" algn="just">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PS Category- Software</a:t>
            </a:r>
          </a:p>
          <a:p>
            <a:pPr marL="285750" indent="-285750" algn="just">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Team ID- (Add your Team ID)</a:t>
            </a:r>
          </a:p>
          <a:p>
            <a:pPr marL="285750" indent="-285750" algn="just">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Team Name (Registered on portal): Risk ML</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99" name="Team Logo"/>
          <p:cNvPicPr>
            <a:picLocks noChangeAspect="1"/>
          </p:cNvPicPr>
          <p:nvPr/>
        </p:nvPicPr>
        <p:blipFill>
          <a:blip r:embed="rId4"/>
          <a:stretch>
            <a:fillRect/>
          </a:stretch>
        </p:blipFill>
        <p:spPr>
          <a:xfrm>
            <a:off x="10544300" y="5108000"/>
            <a:ext cx="1247700" cy="1500000"/>
          </a:xfrm>
          <a:prstGeom prst="rect">
            <a:avLst/>
          </a:prstGeom>
        </p:spPr>
      </p:pic>
      <p:sp>
        <p:nvSpPr>
          <p:cNvPr id="100" name="Rounded Rectangle 99"/>
          <p:cNvSpPr/>
          <p:nvPr/>
        </p:nvSpPr>
        <p:spPr>
          <a:xfrm>
            <a:off x="331286" y="5900000"/>
            <a:ext cx="3800000" cy="430000"/>
          </a:xfrm>
          <a:prstGeom prst="roundRect">
            <a:avLst>
              <a:gd name="adj" fmla="val 50000"/>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00000" y="5900000"/>
            <a:ext cx="3600000" cy="430000"/>
          </a:xfrm>
          <a:prstGeom prst="rect">
            <a:avLst/>
          </a:prstGeom>
          <a:noFill/>
        </p:spPr>
        <p:txBody>
          <a:bodyPr wrap="square" lIns="0" rIns="0" tIns="0" bIns="0" anchor="ctr">
            <a:spAutoFit/>
          </a:bodyPr>
          <a:lstStyle/>
          <a:p>
            <a:pPr algn="l">
              <a:lnSpc>
                <a:spcPct val="100000"/>
              </a:lnSpc>
            </a:pPr>
            <a:r>
              <a:rPr sz="1200" b="1" i="0">
                <a:solidFill>
                  <a:srgbClr val="FFFFFF"/>
                </a:solidFill>
                <a:latin typeface="Arial"/>
              </a:rPr>
              <a:t>🌐 Live Prototype: </a:t>
            </a:r>
            <a:r>
              <a:rPr sz="1200" b="1" i="0">
                <a:solidFill>
                  <a:srgbClr val="10B981"/>
                </a:solidFill>
                <a:latin typeface="Arial"/>
              </a:rPr>
              <a:t>sentra-risk.vercel.app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0000"/>
          </a:xfrm>
          <a:prstGeom prst="rect">
            <a:avLst/>
          </a:prstGeom>
          <a:gradFill rotWithShape="1">
            <a:gsLst>
              <a:gs pos="0">
                <a:srgbClr val="0B192C"/>
              </a:gs>
              <a:gs pos="100000">
                <a:srgbClr val="058A5D"/>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0000" y="0"/>
            <a:ext cx="7800000" cy="1000000"/>
          </a:xfrm>
          <a:prstGeom prst="rect">
            <a:avLst/>
          </a:prstGeom>
          <a:noFill/>
        </p:spPr>
        <p:txBody>
          <a:bodyPr wrap="square" lIns="0" rIns="0" tIns="0" bIns="0" anchor="ctr">
            <a:spAutoFit/>
          </a:bodyPr>
          <a:lstStyle/>
          <a:p>
            <a:pPr algn="l">
              <a:lnSpc>
                <a:spcPct val="100000"/>
              </a:lnSpc>
            </a:pPr>
            <a:r>
              <a:rPr sz="3000" b="1" i="0">
                <a:solidFill>
                  <a:srgbClr val="FFFFFF"/>
                </a:solidFill>
                <a:latin typeface="Georgia"/>
              </a:rPr>
              <a:t>IDEA TITLE</a:t>
            </a:r>
          </a:p>
        </p:txBody>
      </p:sp>
      <p:sp>
        <p:nvSpPr>
          <p:cNvPr id="4" name="Rounded Rectangle 3"/>
          <p:cNvSpPr/>
          <p:nvPr/>
        </p:nvSpPr>
        <p:spPr>
          <a:xfrm>
            <a:off x="280000" y="140000"/>
            <a:ext cx="720000" cy="7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330000" y="190000"/>
            <a:ext cx="515710" cy="620000"/>
          </a:xfrm>
          <a:prstGeom prst="rect">
            <a:avLst/>
          </a:prstGeom>
        </p:spPr>
      </p:pic>
      <p:sp>
        <p:nvSpPr>
          <p:cNvPr id="6" name="Rounded Rectangle 5"/>
          <p:cNvSpPr/>
          <p:nvPr/>
        </p:nvSpPr>
        <p:spPr>
          <a:xfrm>
            <a:off x="9450000" y="150000"/>
            <a:ext cx="2500000" cy="7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520000" y="210000"/>
            <a:ext cx="1228342" cy="580000"/>
          </a:xfrm>
          <a:prstGeom prst="rect">
            <a:avLst/>
          </a:prstGeom>
        </p:spPr>
      </p:pic>
      <p:sp>
        <p:nvSpPr>
          <p:cNvPr id="8" name="TextBox 7"/>
          <p:cNvSpPr txBox="1"/>
          <p:nvPr/>
        </p:nvSpPr>
        <p:spPr>
          <a:xfrm>
            <a:off x="550000" y="1160000"/>
            <a:ext cx="11092000" cy="420000"/>
          </a:xfrm>
          <a:prstGeom prst="rect">
            <a:avLst/>
          </a:prstGeom>
          <a:noFill/>
        </p:spPr>
        <p:txBody>
          <a:bodyPr wrap="square" lIns="0" rIns="0" tIns="0" bIns="0" anchor="ctr">
            <a:spAutoFit/>
          </a:bodyPr>
          <a:lstStyle/>
          <a:p>
            <a:pPr algn="l">
              <a:lnSpc>
                <a:spcPct val="100000"/>
              </a:lnSpc>
            </a:pPr>
            <a:r>
              <a:rPr sz="2200" b="1" i="0">
                <a:solidFill>
                  <a:srgbClr val="0B192C"/>
                </a:solidFill>
                <a:latin typeface="Arial"/>
              </a:rPr>
              <a:t>Risk ML</a:t>
            </a:r>
            <a:r>
              <a:rPr sz="2200" b="1" i="0">
                <a:solidFill>
                  <a:srgbClr val="058A5D"/>
                </a:solidFill>
                <a:latin typeface="Arial"/>
              </a:rPr>
              <a:t>  |  Sentra Risk</a:t>
            </a:r>
            <a:r>
              <a:rPr sz="1600" b="0" i="1">
                <a:solidFill>
                  <a:srgbClr val="6B7280"/>
                </a:solidFill>
                <a:latin typeface="Arial"/>
              </a:rPr>
              <a:t>   —  Turning Cyber Risk into Business Language</a:t>
            </a:r>
          </a:p>
        </p:txBody>
      </p:sp>
      <p:sp>
        <p:nvSpPr>
          <p:cNvPr id="9" name="Rounded Rectangle 8"/>
          <p:cNvSpPr/>
          <p:nvPr/>
        </p:nvSpPr>
        <p:spPr>
          <a:xfrm>
            <a:off x="550000" y="1680000"/>
            <a:ext cx="5446000" cy="20000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50000" y="1680000"/>
            <a:ext cx="5446000" cy="60000"/>
          </a:xfrm>
          <a:prstGeom prst="roundRect">
            <a:avLst>
              <a:gd name="adj" fmla="val 50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000" y="1900000"/>
            <a:ext cx="4886000" cy="400000"/>
          </a:xfrm>
          <a:prstGeom prst="rect">
            <a:avLst/>
          </a:prstGeom>
          <a:noFill/>
        </p:spPr>
        <p:txBody>
          <a:bodyPr wrap="square" lIns="0" rIns="0" tIns="0" bIns="0" anchor="t">
            <a:spAutoFit/>
          </a:bodyPr>
          <a:lstStyle/>
          <a:p>
            <a:pPr algn="l">
              <a:lnSpc>
                <a:spcPct val="100000"/>
              </a:lnSpc>
            </a:pPr>
            <a:r>
              <a:rPr sz="1600" b="1" i="0">
                <a:solidFill>
                  <a:srgbClr val="0B192C"/>
                </a:solidFill>
                <a:latin typeface="Arial"/>
              </a:rPr>
              <a:t>🧩 The Problem</a:t>
            </a:r>
          </a:p>
        </p:txBody>
      </p:sp>
      <p:sp>
        <p:nvSpPr>
          <p:cNvPr id="12" name="TextBox 11"/>
          <p:cNvSpPr txBox="1"/>
          <p:nvPr/>
        </p:nvSpPr>
        <p:spPr>
          <a:xfrm>
            <a:off x="830000" y="2330000"/>
            <a:ext cx="4886000" cy="1250000"/>
          </a:xfrm>
          <a:prstGeom prst="rect">
            <a:avLst/>
          </a:prstGeom>
          <a:noFill/>
        </p:spPr>
        <p:txBody>
          <a:bodyPr wrap="square" lIns="0" rIns="0" tIns="0" bIns="0" anchor="t">
            <a:spAutoFit/>
          </a:bodyPr>
          <a:lstStyle/>
          <a:p>
            <a:pPr algn="l">
              <a:lnSpc>
                <a:spcPct val="115000"/>
              </a:lnSpc>
            </a:pPr>
            <a:r>
              <a:rPr sz="1300" b="0" i="0">
                <a:solidFill>
                  <a:srgbClr val="1A1F2B"/>
                </a:solidFill>
                <a:latin typeface="Arial"/>
              </a:rPr>
              <a:t>Security teams talk about technical bugs. Company leaders think in rupees and how much risk feels safe. These two views do not match, so the real money at risk stays hidden from leaders.</a:t>
            </a:r>
          </a:p>
        </p:txBody>
      </p:sp>
      <p:sp>
        <p:nvSpPr>
          <p:cNvPr id="13" name="Rounded Rectangle 12"/>
          <p:cNvSpPr/>
          <p:nvPr/>
        </p:nvSpPr>
        <p:spPr>
          <a:xfrm>
            <a:off x="6196000" y="1680000"/>
            <a:ext cx="5446000" cy="2000000"/>
          </a:xfrm>
          <a:prstGeom prst="roundRect">
            <a:avLst>
              <a:gd name="adj" fmla="val 8000"/>
            </a:avLst>
          </a:prstGeom>
          <a:solidFill>
            <a:srgbClr val="E3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96000" y="1680000"/>
            <a:ext cx="5446000" cy="6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6000" y="1900000"/>
            <a:ext cx="4886000" cy="400000"/>
          </a:xfrm>
          <a:prstGeom prst="rect">
            <a:avLst/>
          </a:prstGeom>
          <a:noFill/>
        </p:spPr>
        <p:txBody>
          <a:bodyPr wrap="square" lIns="0" rIns="0" tIns="0" bIns="0" anchor="t">
            <a:spAutoFit/>
          </a:bodyPr>
          <a:lstStyle/>
          <a:p>
            <a:pPr algn="l">
              <a:lnSpc>
                <a:spcPct val="100000"/>
              </a:lnSpc>
            </a:pPr>
            <a:r>
              <a:rPr sz="1600" b="1" i="0">
                <a:solidFill>
                  <a:srgbClr val="0B192C"/>
                </a:solidFill>
                <a:latin typeface="Arial"/>
              </a:rPr>
              <a:t>🛡️ Our Solution</a:t>
            </a:r>
          </a:p>
        </p:txBody>
      </p:sp>
      <p:sp>
        <p:nvSpPr>
          <p:cNvPr id="16" name="TextBox 15"/>
          <p:cNvSpPr txBox="1"/>
          <p:nvPr/>
        </p:nvSpPr>
        <p:spPr>
          <a:xfrm>
            <a:off x="6476000" y="2330000"/>
            <a:ext cx="4886000" cy="1250000"/>
          </a:xfrm>
          <a:prstGeom prst="rect">
            <a:avLst/>
          </a:prstGeom>
          <a:noFill/>
        </p:spPr>
        <p:txBody>
          <a:bodyPr wrap="square" lIns="0" rIns="0" tIns="0" bIns="0" anchor="t">
            <a:spAutoFit/>
          </a:bodyPr>
          <a:lstStyle/>
          <a:p>
            <a:pPr algn="l">
              <a:lnSpc>
                <a:spcPct val="115000"/>
              </a:lnSpc>
            </a:pPr>
            <a:r>
              <a:rPr sz="1300" b="0" i="0">
                <a:solidFill>
                  <a:srgbClr val="1A1F2B"/>
                </a:solidFill>
                <a:latin typeface="Arial"/>
              </a:rPr>
              <a:t>Sentra Risk (by Risk ML) is an AI system that turns security data into simple rupee numbers, showing yearly loss (EAL) and worst-case loss (VaR) — live at sentra-risk.vercel.app.</a:t>
            </a:r>
          </a:p>
        </p:txBody>
      </p:sp>
      <p:sp>
        <p:nvSpPr>
          <p:cNvPr id="17" name="Rounded Rectangle 16"/>
          <p:cNvSpPr/>
          <p:nvPr/>
        </p:nvSpPr>
        <p:spPr>
          <a:xfrm>
            <a:off x="550000" y="3880000"/>
            <a:ext cx="11092000" cy="1050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50000" y="3880000"/>
            <a:ext cx="11092000" cy="60000"/>
          </a:xfrm>
          <a:prstGeom prst="roundRect">
            <a:avLst>
              <a:gd name="adj" fmla="val 50000"/>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000" y="4020000"/>
            <a:ext cx="4000000" cy="350000"/>
          </a:xfrm>
          <a:prstGeom prst="rect">
            <a:avLst/>
          </a:prstGeom>
          <a:noFill/>
        </p:spPr>
        <p:txBody>
          <a:bodyPr wrap="square" lIns="0" rIns="0" tIns="0" bIns="0" anchor="t">
            <a:spAutoFit/>
          </a:bodyPr>
          <a:lstStyle/>
          <a:p>
            <a:pPr algn="l">
              <a:lnSpc>
                <a:spcPct val="100000"/>
              </a:lnSpc>
            </a:pPr>
            <a:r>
              <a:rPr sz="1500" b="1" i="0">
                <a:solidFill>
                  <a:srgbClr val="0B192C"/>
                </a:solidFill>
                <a:latin typeface="Arial"/>
              </a:rPr>
              <a:t>📊 Platform Features (Live)</a:t>
            </a:r>
          </a:p>
        </p:txBody>
      </p:sp>
      <p:sp>
        <p:nvSpPr>
          <p:cNvPr id="20" name="Rounded Rectangle 19"/>
          <p:cNvSpPr/>
          <p:nvPr/>
        </p:nvSpPr>
        <p:spPr>
          <a:xfrm>
            <a:off x="830000" y="4400000"/>
            <a:ext cx="2002400" cy="480000"/>
          </a:xfrm>
          <a:prstGeom prst="roundRect">
            <a:avLst>
              <a:gd name="adj" fmla="val 50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Dashboard</a:t>
            </a:r>
          </a:p>
        </p:txBody>
      </p:sp>
      <p:sp>
        <p:nvSpPr>
          <p:cNvPr id="21" name="Rounded Rectangle 20"/>
          <p:cNvSpPr/>
          <p:nvPr/>
        </p:nvSpPr>
        <p:spPr>
          <a:xfrm>
            <a:off x="2962400" y="4400000"/>
            <a:ext cx="2002400" cy="48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Risk Explorer</a:t>
            </a:r>
          </a:p>
        </p:txBody>
      </p:sp>
      <p:sp>
        <p:nvSpPr>
          <p:cNvPr id="22" name="Rounded Rectangle 21"/>
          <p:cNvSpPr/>
          <p:nvPr/>
        </p:nvSpPr>
        <p:spPr>
          <a:xfrm>
            <a:off x="5094800" y="4400000"/>
            <a:ext cx="2002400" cy="480000"/>
          </a:xfrm>
          <a:prstGeom prst="roundRect">
            <a:avLst>
              <a:gd name="adj" fmla="val 50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Scenario Simulator</a:t>
            </a:r>
          </a:p>
        </p:txBody>
      </p:sp>
      <p:sp>
        <p:nvSpPr>
          <p:cNvPr id="23" name="Rounded Rectangle 22"/>
          <p:cNvSpPr/>
          <p:nvPr/>
        </p:nvSpPr>
        <p:spPr>
          <a:xfrm>
            <a:off x="7227200" y="4400000"/>
            <a:ext cx="2002400" cy="480000"/>
          </a:xfrm>
          <a:prstGeom prst="roundRect">
            <a:avLst>
              <a:gd name="adj" fmla="val 50000"/>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Investment Optimizer</a:t>
            </a:r>
          </a:p>
        </p:txBody>
      </p:sp>
      <p:sp>
        <p:nvSpPr>
          <p:cNvPr id="24" name="Rounded Rectangle 23"/>
          <p:cNvSpPr/>
          <p:nvPr/>
        </p:nvSpPr>
        <p:spPr>
          <a:xfrm>
            <a:off x="9359600" y="4400000"/>
            <a:ext cx="2002400" cy="480000"/>
          </a:xfrm>
          <a:prstGeom prst="roundRect">
            <a:avLst>
              <a:gd name="adj" fmla="val 50000"/>
            </a:avLst>
          </a:prstGeom>
          <a:solidFill>
            <a:srgbClr val="058A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AI Assistant</a:t>
            </a:r>
          </a:p>
        </p:txBody>
      </p:sp>
      <p:sp>
        <p:nvSpPr>
          <p:cNvPr id="25" name="Rounded Rectangle 24"/>
          <p:cNvSpPr/>
          <p:nvPr/>
        </p:nvSpPr>
        <p:spPr>
          <a:xfrm>
            <a:off x="550000" y="5130000"/>
            <a:ext cx="11092000" cy="115000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50000" y="5130000"/>
            <a:ext cx="11092000" cy="6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000" y="5260000"/>
            <a:ext cx="10532000" cy="350000"/>
          </a:xfrm>
          <a:prstGeom prst="rect">
            <a:avLst/>
          </a:prstGeom>
          <a:noFill/>
        </p:spPr>
        <p:txBody>
          <a:bodyPr wrap="square" lIns="0" rIns="0" tIns="0" bIns="0" anchor="t">
            <a:spAutoFit/>
          </a:bodyPr>
          <a:lstStyle/>
          <a:p>
            <a:pPr algn="l">
              <a:lnSpc>
                <a:spcPct val="100000"/>
              </a:lnSpc>
            </a:pPr>
            <a:r>
              <a:rPr sz="1500" b="1" i="0">
                <a:solidFill>
                  <a:srgbClr val="0B192C"/>
                </a:solidFill>
                <a:latin typeface="Arial"/>
              </a:rPr>
              <a:t>✨ What Makes Us Different</a:t>
            </a:r>
          </a:p>
        </p:txBody>
      </p:sp>
      <p:sp>
        <p:nvSpPr>
          <p:cNvPr id="28" name="TextBox 27"/>
          <p:cNvSpPr txBox="1"/>
          <p:nvPr/>
        </p:nvSpPr>
        <p:spPr>
          <a:xfrm>
            <a:off x="830000" y="5630000"/>
            <a:ext cx="10532000" cy="600000"/>
          </a:xfrm>
          <a:prstGeom prst="rect">
            <a:avLst/>
          </a:prstGeom>
          <a:noFill/>
        </p:spPr>
        <p:txBody>
          <a:bodyPr wrap="square" lIns="0" rIns="0" tIns="0" bIns="0" anchor="t">
            <a:spAutoFit/>
          </a:bodyPr>
          <a:lstStyle/>
          <a:p>
            <a:pPr algn="l">
              <a:lnSpc>
                <a:spcPct val="130000"/>
              </a:lnSpc>
            </a:pPr>
            <a:r>
              <a:rPr sz="1250" b="1" i="0">
                <a:solidFill>
                  <a:srgbClr val="0B192C"/>
                </a:solidFill>
                <a:latin typeface="Arial"/>
              </a:rPr>
              <a:t>💰 Smart </a:t>
            </a:r>
            <a:r>
              <a:rPr sz="1250" b="1" i="0">
                <a:solidFill>
                  <a:srgbClr val="058A5D"/>
                </a:solidFill>
                <a:latin typeface="Arial"/>
              </a:rPr>
              <a:t>Investment Optimizer</a:t>
            </a:r>
            <a:r>
              <a:rPr sz="1250" b="0" i="0">
                <a:solidFill>
                  <a:srgbClr val="1A1F2B"/>
                </a:solidFill>
                <a:latin typeface="Arial"/>
              </a:rPr>
              <a:t> matches spending with returns    </a:t>
            </a:r>
            <a:r>
              <a:rPr sz="1250" b="1" i="0">
                <a:solidFill>
                  <a:srgbClr val="0B192C"/>
                </a:solidFill>
                <a:latin typeface="Arial"/>
              </a:rPr>
              <a:t>🤖 Conversational </a:t>
            </a:r>
            <a:r>
              <a:rPr sz="1250" b="1" i="0">
                <a:solidFill>
                  <a:srgbClr val="058A5D"/>
                </a:solidFill>
                <a:latin typeface="Arial"/>
              </a:rPr>
              <a:t>AI Assistant</a:t>
            </a:r>
            <a:r>
              <a:rPr sz="1250" b="0" i="0">
                <a:solidFill>
                  <a:srgbClr val="1A1F2B"/>
                </a:solidFill>
                <a:latin typeface="Arial"/>
              </a:rPr>
              <a:t> for plain-language risk Q&amp;A</a:t>
            </a:r>
          </a:p>
          <a:p>
            <a:pPr algn="l">
              <a:lnSpc>
                <a:spcPct val="130000"/>
              </a:lnSpc>
            </a:pPr>
            <a:r>
              <a:rPr sz="1250" b="1" i="0">
                <a:solidFill>
                  <a:srgbClr val="0B192C"/>
                </a:solidFill>
                <a:latin typeface="Arial"/>
              </a:rPr>
              <a:t>🛡️ Continuous 24/7</a:t>
            </a:r>
            <a:r>
              <a:rPr sz="1250" b="0" i="0">
                <a:solidFill>
                  <a:srgbClr val="1A1F2B"/>
                </a:solidFill>
                <a:latin typeface="Arial"/>
              </a:rPr>
              <a:t> scoring, instead of slow yearly audits</a:t>
            </a:r>
          </a:p>
        </p:txBody>
      </p:sp>
      <p:sp>
        <p:nvSpPr>
          <p:cNvPr id="29" name="Rectangle 28"/>
          <p:cNvSpPr/>
          <p:nvPr/>
        </p:nvSpPr>
        <p:spPr>
          <a:xfrm>
            <a:off x="0" y="6528000"/>
            <a:ext cx="12192000" cy="330000"/>
          </a:xfrm>
          <a:prstGeom prst="rect">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0000" y="6528000"/>
            <a:ext cx="9500000" cy="330000"/>
          </a:xfrm>
          <a:prstGeom prst="rect">
            <a:avLst/>
          </a:prstGeom>
          <a:noFill/>
        </p:spPr>
        <p:txBody>
          <a:bodyPr wrap="square" lIns="0" rIns="0" tIns="0" bIns="0" anchor="ctr">
            <a:spAutoFit/>
          </a:bodyPr>
          <a:lstStyle/>
          <a:p>
            <a:pPr algn="l">
              <a:lnSpc>
                <a:spcPct val="100000"/>
              </a:lnSpc>
            </a:pPr>
            <a:r>
              <a:rPr sz="1100" b="0" i="0">
                <a:solidFill>
                  <a:srgbClr val="F8FAFC"/>
                </a:solidFill>
                <a:latin typeface="Arial"/>
              </a:rPr>
              <a:t>Sentra Risk | Team Risk ML  •  SIH26105</a:t>
            </a:r>
          </a:p>
        </p:txBody>
      </p:sp>
      <p:sp>
        <p:nvSpPr>
          <p:cNvPr id="31" name="TextBox 30"/>
          <p:cNvSpPr txBox="1"/>
          <p:nvPr/>
        </p:nvSpPr>
        <p:spPr>
          <a:xfrm>
            <a:off x="11492000" y="6528000"/>
            <a:ext cx="500000" cy="330000"/>
          </a:xfrm>
          <a:prstGeom prst="rect">
            <a:avLst/>
          </a:prstGeom>
          <a:noFill/>
        </p:spPr>
        <p:txBody>
          <a:bodyPr wrap="square" lIns="0" rIns="0" tIns="0" bIns="0" anchor="ctr">
            <a:spAutoFit/>
          </a:bodyPr>
          <a:lstStyle/>
          <a:p>
            <a:pPr algn="ctr">
              <a:lnSpc>
                <a:spcPct val="100000"/>
              </a:lnSpc>
            </a:pPr>
            <a:r>
              <a:rPr sz="1400" b="1" i="0">
                <a:solidFill>
                  <a:srgbClr val="FFFFFF"/>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0000"/>
          </a:xfrm>
          <a:prstGeom prst="rect">
            <a:avLst/>
          </a:prstGeom>
          <a:gradFill rotWithShape="1">
            <a:gsLst>
              <a:gs pos="0">
                <a:srgbClr val="0B192C"/>
              </a:gs>
              <a:gs pos="100000">
                <a:srgbClr val="1E88E5"/>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0000" y="0"/>
            <a:ext cx="7800000" cy="1000000"/>
          </a:xfrm>
          <a:prstGeom prst="rect">
            <a:avLst/>
          </a:prstGeom>
          <a:noFill/>
        </p:spPr>
        <p:txBody>
          <a:bodyPr wrap="square" lIns="0" rIns="0" tIns="0" bIns="0" anchor="ctr">
            <a:spAutoFit/>
          </a:bodyPr>
          <a:lstStyle/>
          <a:p>
            <a:pPr algn="l">
              <a:lnSpc>
                <a:spcPct val="100000"/>
              </a:lnSpc>
            </a:pPr>
            <a:r>
              <a:rPr sz="2800" b="1" i="0">
                <a:solidFill>
                  <a:srgbClr val="FFFFFF"/>
                </a:solidFill>
                <a:latin typeface="Georgia"/>
              </a:rPr>
              <a:t>TECHNICAL APPROACH</a:t>
            </a:r>
          </a:p>
        </p:txBody>
      </p:sp>
      <p:sp>
        <p:nvSpPr>
          <p:cNvPr id="4" name="Rounded Rectangle 3"/>
          <p:cNvSpPr/>
          <p:nvPr/>
        </p:nvSpPr>
        <p:spPr>
          <a:xfrm>
            <a:off x="280000" y="140000"/>
            <a:ext cx="720000" cy="7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330000" y="190000"/>
            <a:ext cx="515710" cy="620000"/>
          </a:xfrm>
          <a:prstGeom prst="rect">
            <a:avLst/>
          </a:prstGeom>
        </p:spPr>
      </p:pic>
      <p:sp>
        <p:nvSpPr>
          <p:cNvPr id="6" name="Rounded Rectangle 5"/>
          <p:cNvSpPr/>
          <p:nvPr/>
        </p:nvSpPr>
        <p:spPr>
          <a:xfrm>
            <a:off x="9450000" y="150000"/>
            <a:ext cx="2500000" cy="7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520000" y="210000"/>
            <a:ext cx="1228342" cy="580000"/>
          </a:xfrm>
          <a:prstGeom prst="rect">
            <a:avLst/>
          </a:prstGeom>
        </p:spPr>
      </p:pic>
      <p:sp>
        <p:nvSpPr>
          <p:cNvPr id="8" name="Rounded Rectangle 7"/>
          <p:cNvSpPr/>
          <p:nvPr/>
        </p:nvSpPr>
        <p:spPr>
          <a:xfrm>
            <a:off x="550000" y="1200000"/>
            <a:ext cx="5300000" cy="5280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0000" y="1200000"/>
            <a:ext cx="5300000" cy="60000"/>
          </a:xfrm>
          <a:prstGeom prst="roundRect">
            <a:avLst>
              <a:gd name="adj" fmla="val 50000"/>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0000" y="1350000"/>
            <a:ext cx="4800000" cy="350000"/>
          </a:xfrm>
          <a:prstGeom prst="rect">
            <a:avLst/>
          </a:prstGeom>
          <a:noFill/>
        </p:spPr>
        <p:txBody>
          <a:bodyPr wrap="square" lIns="0" rIns="0" tIns="0" bIns="0" anchor="t">
            <a:spAutoFit/>
          </a:bodyPr>
          <a:lstStyle/>
          <a:p>
            <a:pPr algn="l">
              <a:lnSpc>
                <a:spcPct val="100000"/>
              </a:lnSpc>
            </a:pPr>
            <a:r>
              <a:rPr sz="1600" b="1" i="0">
                <a:solidFill>
                  <a:srgbClr val="0B192C"/>
                </a:solidFill>
                <a:latin typeface="Arial"/>
              </a:rPr>
              <a:t>🧰 Tech Stack</a:t>
            </a:r>
          </a:p>
        </p:txBody>
      </p:sp>
      <p:sp>
        <p:nvSpPr>
          <p:cNvPr id="11" name="Rounded Rectangle 10"/>
          <p:cNvSpPr/>
          <p:nvPr/>
        </p:nvSpPr>
        <p:spPr>
          <a:xfrm>
            <a:off x="810000" y="1850000"/>
            <a:ext cx="1900000" cy="480000"/>
          </a:xfrm>
          <a:prstGeom prst="roundRect">
            <a:avLst>
              <a:gd name="adj" fmla="val 50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Frontend</a:t>
            </a:r>
          </a:p>
        </p:txBody>
      </p:sp>
      <p:sp>
        <p:nvSpPr>
          <p:cNvPr id="12" name="TextBox 11"/>
          <p:cNvSpPr txBox="1"/>
          <p:nvPr/>
        </p:nvSpPr>
        <p:spPr>
          <a:xfrm>
            <a:off x="2870000" y="1850000"/>
            <a:ext cx="2740000" cy="480000"/>
          </a:xfrm>
          <a:prstGeom prst="rect">
            <a:avLst/>
          </a:prstGeom>
          <a:noFill/>
        </p:spPr>
        <p:txBody>
          <a:bodyPr wrap="square" lIns="0" rIns="0" tIns="0" bIns="0" anchor="ctr">
            <a:spAutoFit/>
          </a:bodyPr>
          <a:lstStyle/>
          <a:p>
            <a:pPr algn="l">
              <a:lnSpc>
                <a:spcPct val="100000"/>
              </a:lnSpc>
            </a:pPr>
            <a:r>
              <a:rPr sz="1200" b="0" i="0">
                <a:solidFill>
                  <a:srgbClr val="1A1F2B"/>
                </a:solidFill>
                <a:latin typeface="Arial"/>
              </a:rPr>
              <a:t>HTML  •  CSS  •  JavaScript</a:t>
            </a:r>
          </a:p>
        </p:txBody>
      </p:sp>
      <p:sp>
        <p:nvSpPr>
          <p:cNvPr id="13" name="Rounded Rectangle 12"/>
          <p:cNvSpPr/>
          <p:nvPr/>
        </p:nvSpPr>
        <p:spPr>
          <a:xfrm>
            <a:off x="810000" y="2610000"/>
            <a:ext cx="1900000" cy="48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Backend</a:t>
            </a:r>
          </a:p>
        </p:txBody>
      </p:sp>
      <p:sp>
        <p:nvSpPr>
          <p:cNvPr id="14" name="TextBox 13"/>
          <p:cNvSpPr txBox="1"/>
          <p:nvPr/>
        </p:nvSpPr>
        <p:spPr>
          <a:xfrm>
            <a:off x="2870000" y="2610000"/>
            <a:ext cx="2740000" cy="480000"/>
          </a:xfrm>
          <a:prstGeom prst="rect">
            <a:avLst/>
          </a:prstGeom>
          <a:noFill/>
        </p:spPr>
        <p:txBody>
          <a:bodyPr wrap="square" lIns="0" rIns="0" tIns="0" bIns="0" anchor="ctr">
            <a:spAutoFit/>
          </a:bodyPr>
          <a:lstStyle/>
          <a:p>
            <a:pPr algn="l">
              <a:lnSpc>
                <a:spcPct val="100000"/>
              </a:lnSpc>
            </a:pPr>
            <a:r>
              <a:rPr sz="1200" b="0" i="0">
                <a:solidFill>
                  <a:srgbClr val="1A1F2B"/>
                </a:solidFill>
                <a:latin typeface="Arial"/>
              </a:rPr>
              <a:t>Python  •  Flask</a:t>
            </a:r>
          </a:p>
        </p:txBody>
      </p:sp>
      <p:sp>
        <p:nvSpPr>
          <p:cNvPr id="15" name="Rounded Rectangle 14"/>
          <p:cNvSpPr/>
          <p:nvPr/>
        </p:nvSpPr>
        <p:spPr>
          <a:xfrm>
            <a:off x="810000" y="3370000"/>
            <a:ext cx="1900000" cy="480000"/>
          </a:xfrm>
          <a:prstGeom prst="roundRect">
            <a:avLst>
              <a:gd name="adj" fmla="val 50000"/>
            </a:avLst>
          </a:prstGeom>
          <a:solidFill>
            <a:srgbClr val="058A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Database</a:t>
            </a:r>
          </a:p>
        </p:txBody>
      </p:sp>
      <p:sp>
        <p:nvSpPr>
          <p:cNvPr id="16" name="TextBox 15"/>
          <p:cNvSpPr txBox="1"/>
          <p:nvPr/>
        </p:nvSpPr>
        <p:spPr>
          <a:xfrm>
            <a:off x="2870000" y="3370000"/>
            <a:ext cx="2740000" cy="480000"/>
          </a:xfrm>
          <a:prstGeom prst="rect">
            <a:avLst/>
          </a:prstGeom>
          <a:noFill/>
        </p:spPr>
        <p:txBody>
          <a:bodyPr wrap="square" lIns="0" rIns="0" tIns="0" bIns="0" anchor="ctr">
            <a:spAutoFit/>
          </a:bodyPr>
          <a:lstStyle/>
          <a:p>
            <a:pPr algn="l">
              <a:lnSpc>
                <a:spcPct val="100000"/>
              </a:lnSpc>
            </a:pPr>
            <a:r>
              <a:rPr sz="1200" b="0" i="0">
                <a:solidFill>
                  <a:srgbClr val="1A1F2B"/>
                </a:solidFill>
                <a:latin typeface="Arial"/>
              </a:rPr>
              <a:t>PostgreSQL (Neon)</a:t>
            </a:r>
          </a:p>
        </p:txBody>
      </p:sp>
      <p:sp>
        <p:nvSpPr>
          <p:cNvPr id="17" name="Rounded Rectangle 16"/>
          <p:cNvSpPr/>
          <p:nvPr/>
        </p:nvSpPr>
        <p:spPr>
          <a:xfrm>
            <a:off x="810000" y="4130000"/>
            <a:ext cx="1900000" cy="480000"/>
          </a:xfrm>
          <a:prstGeom prst="roundRect">
            <a:avLst>
              <a:gd name="adj" fmla="val 50000"/>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Visualization</a:t>
            </a:r>
          </a:p>
        </p:txBody>
      </p:sp>
      <p:sp>
        <p:nvSpPr>
          <p:cNvPr id="18" name="TextBox 17"/>
          <p:cNvSpPr txBox="1"/>
          <p:nvPr/>
        </p:nvSpPr>
        <p:spPr>
          <a:xfrm>
            <a:off x="2870000" y="4130000"/>
            <a:ext cx="2740000" cy="480000"/>
          </a:xfrm>
          <a:prstGeom prst="rect">
            <a:avLst/>
          </a:prstGeom>
          <a:noFill/>
        </p:spPr>
        <p:txBody>
          <a:bodyPr wrap="square" lIns="0" rIns="0" tIns="0" bIns="0" anchor="ctr">
            <a:spAutoFit/>
          </a:bodyPr>
          <a:lstStyle/>
          <a:p>
            <a:pPr algn="l">
              <a:lnSpc>
                <a:spcPct val="100000"/>
              </a:lnSpc>
            </a:pPr>
            <a:r>
              <a:rPr sz="1200" b="0" i="0">
                <a:solidFill>
                  <a:srgbClr val="1A1F2B"/>
                </a:solidFill>
                <a:latin typeface="Arial"/>
              </a:rPr>
              <a:t>Chart.js  •  Plotly.js</a:t>
            </a:r>
          </a:p>
        </p:txBody>
      </p:sp>
      <p:sp>
        <p:nvSpPr>
          <p:cNvPr id="19" name="Rounded Rectangle 18"/>
          <p:cNvSpPr/>
          <p:nvPr/>
        </p:nvSpPr>
        <p:spPr>
          <a:xfrm>
            <a:off x="810000" y="4890000"/>
            <a:ext cx="1900000" cy="480000"/>
          </a:xfrm>
          <a:prstGeom prst="roundRect">
            <a:avLst>
              <a:gd name="adj" fmla="val 50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1150" b="1">
                <a:solidFill>
                  <a:srgbClr val="FFFFFF"/>
                </a:solidFill>
                <a:latin typeface="Arial"/>
              </a:rPr>
              <a:t>AI Engine</a:t>
            </a:r>
          </a:p>
        </p:txBody>
      </p:sp>
      <p:sp>
        <p:nvSpPr>
          <p:cNvPr id="20" name="TextBox 19"/>
          <p:cNvSpPr txBox="1"/>
          <p:nvPr/>
        </p:nvSpPr>
        <p:spPr>
          <a:xfrm>
            <a:off x="2870000" y="4890000"/>
            <a:ext cx="2740000" cy="480000"/>
          </a:xfrm>
          <a:prstGeom prst="rect">
            <a:avLst/>
          </a:prstGeom>
          <a:noFill/>
        </p:spPr>
        <p:txBody>
          <a:bodyPr wrap="square" lIns="0" rIns="0" tIns="0" bIns="0" anchor="ctr">
            <a:spAutoFit/>
          </a:bodyPr>
          <a:lstStyle/>
          <a:p>
            <a:pPr algn="l">
              <a:lnSpc>
                <a:spcPct val="100000"/>
              </a:lnSpc>
            </a:pPr>
            <a:r>
              <a:rPr sz="1200" b="0" i="0">
                <a:solidFill>
                  <a:srgbClr val="1A1F2B"/>
                </a:solidFill>
                <a:latin typeface="Arial"/>
              </a:rPr>
              <a:t>scikit-learn</a:t>
            </a:r>
          </a:p>
        </p:txBody>
      </p:sp>
      <p:sp>
        <p:nvSpPr>
          <p:cNvPr id="21" name="Rounded Rectangle 20"/>
          <p:cNvSpPr/>
          <p:nvPr/>
        </p:nvSpPr>
        <p:spPr>
          <a:xfrm>
            <a:off x="6070000" y="1200000"/>
            <a:ext cx="5572000" cy="528000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070000" y="1200000"/>
            <a:ext cx="5572000" cy="6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0000" y="1350000"/>
            <a:ext cx="5072000" cy="350000"/>
          </a:xfrm>
          <a:prstGeom prst="rect">
            <a:avLst/>
          </a:prstGeom>
          <a:noFill/>
        </p:spPr>
        <p:txBody>
          <a:bodyPr wrap="square" lIns="0" rIns="0" tIns="0" bIns="0" anchor="t">
            <a:spAutoFit/>
          </a:bodyPr>
          <a:lstStyle/>
          <a:p>
            <a:pPr algn="l">
              <a:lnSpc>
                <a:spcPct val="100000"/>
              </a:lnSpc>
            </a:pPr>
            <a:r>
              <a:rPr sz="1500" b="1" i="0">
                <a:solidFill>
                  <a:srgbClr val="0B192C"/>
                </a:solidFill>
                <a:latin typeface="Arial"/>
              </a:rPr>
              <a:t>⚙️ Risk Quantification Pipeline</a:t>
            </a:r>
          </a:p>
        </p:txBody>
      </p:sp>
      <p:sp>
        <p:nvSpPr>
          <p:cNvPr id="24" name="Rounded Rectangle 23"/>
          <p:cNvSpPr/>
          <p:nvPr/>
        </p:nvSpPr>
        <p:spPr>
          <a:xfrm>
            <a:off x="6320000" y="1800000"/>
            <a:ext cx="5072000" cy="520000"/>
          </a:xfrm>
          <a:prstGeom prst="roundRect">
            <a:avLst>
              <a:gd name="adj" fmla="val 1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ctr"/>
            <a:r>
              <a:rPr b="1" sz="1300">
                <a:solidFill>
                  <a:srgbClr val="FFFFFF"/>
                </a:solidFill>
                <a:latin typeface="Arial"/>
              </a:rPr>
              <a:t>Data Inputs</a:t>
            </a:r>
          </a:p>
          <a:p>
            <a:pPr algn="ctr"/>
            <a:r>
              <a:rPr sz="950">
                <a:solidFill>
                  <a:srgbClr val="FFFFFF"/>
                </a:solidFill>
                <a:latin typeface="Arial"/>
              </a:rPr>
              <a:t>NVD API  •  EPSS API</a:t>
            </a:r>
          </a:p>
        </p:txBody>
      </p:sp>
      <p:sp>
        <p:nvSpPr>
          <p:cNvPr id="25" name="Rounded Rectangle 24"/>
          <p:cNvSpPr/>
          <p:nvPr/>
        </p:nvSpPr>
        <p:spPr>
          <a:xfrm>
            <a:off x="6320000" y="2827500"/>
            <a:ext cx="5072000" cy="520000"/>
          </a:xfrm>
          <a:prstGeom prst="roundRect">
            <a:avLst>
              <a:gd name="adj" fmla="val 18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ctr"/>
            <a:r>
              <a:rPr b="1" sz="1300">
                <a:solidFill>
                  <a:srgbClr val="FFFFFF"/>
                </a:solidFill>
                <a:latin typeface="Arial"/>
              </a:rPr>
              <a:t>AI Risk Engine</a:t>
            </a:r>
          </a:p>
          <a:p>
            <a:pPr algn="ctr"/>
            <a:r>
              <a:rPr sz="950">
                <a:solidFill>
                  <a:srgbClr val="FFFFFF"/>
                </a:solidFill>
                <a:latin typeface="Arial"/>
              </a:rPr>
              <a:t>Risk scoring → EAL &amp; VaR</a:t>
            </a:r>
          </a:p>
        </p:txBody>
      </p:sp>
      <p:sp>
        <p:nvSpPr>
          <p:cNvPr id="26" name="Rounded Rectangle 25"/>
          <p:cNvSpPr/>
          <p:nvPr/>
        </p:nvSpPr>
        <p:spPr>
          <a:xfrm>
            <a:off x="6320000" y="3855000"/>
            <a:ext cx="5072000" cy="520000"/>
          </a:xfrm>
          <a:prstGeom prst="roundRect">
            <a:avLst>
              <a:gd name="adj" fmla="val 1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ctr"/>
            <a:r>
              <a:rPr b="1" sz="1300">
                <a:solidFill>
                  <a:srgbClr val="FFFFFF"/>
                </a:solidFill>
                <a:latin typeface="Arial"/>
              </a:rPr>
              <a:t>Core Modules</a:t>
            </a:r>
          </a:p>
          <a:p>
            <a:pPr algn="ctr"/>
            <a:r>
              <a:rPr sz="950">
                <a:solidFill>
                  <a:srgbClr val="FFFFFF"/>
                </a:solidFill>
                <a:latin typeface="Arial"/>
              </a:rPr>
              <a:t>Risk Explorer • Scenario Simulator • Investment Optimizer</a:t>
            </a:r>
          </a:p>
        </p:txBody>
      </p:sp>
      <p:sp>
        <p:nvSpPr>
          <p:cNvPr id="27" name="Rounded Rectangle 26"/>
          <p:cNvSpPr/>
          <p:nvPr/>
        </p:nvSpPr>
        <p:spPr>
          <a:xfrm>
            <a:off x="6320000" y="4882500"/>
            <a:ext cx="5072000" cy="520000"/>
          </a:xfrm>
          <a:prstGeom prst="roundRect">
            <a:avLst>
              <a:gd name="adj" fmla="val 18000"/>
            </a:avLst>
          </a:prstGeom>
          <a:solidFill>
            <a:srgbClr val="058A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ctr"/>
            <a:r>
              <a:rPr b="1" sz="1300">
                <a:solidFill>
                  <a:srgbClr val="FFFFFF"/>
                </a:solidFill>
                <a:latin typeface="Arial"/>
              </a:rPr>
              <a:t>Dashboards + AI Assistant</a:t>
            </a:r>
          </a:p>
          <a:p>
            <a:pPr algn="ctr"/>
            <a:r>
              <a:rPr sz="950">
                <a:solidFill>
                  <a:srgbClr val="FFFFFF"/>
                </a:solidFill>
                <a:latin typeface="Arial"/>
              </a:rPr>
              <a:t>Simple views for teams</a:t>
            </a:r>
          </a:p>
        </p:txBody>
      </p:sp>
      <p:sp>
        <p:nvSpPr>
          <p:cNvPr id="28" name="Rounded Rectangle 27"/>
          <p:cNvSpPr/>
          <p:nvPr/>
        </p:nvSpPr>
        <p:spPr>
          <a:xfrm>
            <a:off x="6320000" y="5910000"/>
            <a:ext cx="5072000" cy="520000"/>
          </a:xfrm>
          <a:prstGeom prst="roundRect">
            <a:avLst>
              <a:gd name="adj" fmla="val 18000"/>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ctr"/>
            <a:r>
              <a:rPr b="1" sz="1300">
                <a:solidFill>
                  <a:srgbClr val="FFFFFF"/>
                </a:solidFill>
                <a:latin typeface="Arial"/>
              </a:rPr>
              <a:t>Business Decisions</a:t>
            </a:r>
          </a:p>
          <a:p>
            <a:pPr algn="ctr"/>
            <a:r>
              <a:rPr sz="950">
                <a:solidFill>
                  <a:srgbClr val="FFFFFF"/>
                </a:solidFill>
                <a:latin typeface="Arial"/>
              </a:rPr>
              <a:t>Smarter security spending</a:t>
            </a:r>
          </a:p>
        </p:txBody>
      </p:sp>
      <p:cxnSp>
        <p:nvCxnSpPr>
          <p:cNvPr id="29" name="Connector 28"/>
          <p:cNvCxnSpPr/>
          <p:nvPr/>
        </p:nvCxnSpPr>
        <p:spPr>
          <a:xfrm>
            <a:off x="8856000" y="2340000"/>
            <a:ext cx="0" cy="467500"/>
          </a:xfrm>
          <a:prstGeom prst="bentConnector3">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56000" y="3367500"/>
            <a:ext cx="0" cy="467500"/>
          </a:xfrm>
          <a:prstGeom prst="bentConnector3">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56000" y="4395000"/>
            <a:ext cx="0" cy="467500"/>
          </a:xfrm>
          <a:prstGeom prst="bentConnector3">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856000" y="5422500"/>
            <a:ext cx="0" cy="467500"/>
          </a:xfrm>
          <a:prstGeom prst="bentConnector3">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0" y="6528000"/>
            <a:ext cx="12192000" cy="330000"/>
          </a:xfrm>
          <a:prstGeom prst="rect">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0000" y="6528000"/>
            <a:ext cx="9500000" cy="330000"/>
          </a:xfrm>
          <a:prstGeom prst="rect">
            <a:avLst/>
          </a:prstGeom>
          <a:noFill/>
        </p:spPr>
        <p:txBody>
          <a:bodyPr wrap="square" lIns="0" rIns="0" tIns="0" bIns="0" anchor="ctr">
            <a:spAutoFit/>
          </a:bodyPr>
          <a:lstStyle/>
          <a:p>
            <a:pPr algn="l">
              <a:lnSpc>
                <a:spcPct val="100000"/>
              </a:lnSpc>
            </a:pPr>
            <a:r>
              <a:rPr sz="1100" b="0" i="0">
                <a:solidFill>
                  <a:srgbClr val="F8FAFC"/>
                </a:solidFill>
                <a:latin typeface="Arial"/>
              </a:rPr>
              <a:t>Sentra Risk | Team Risk ML  •  SIH26105</a:t>
            </a:r>
          </a:p>
        </p:txBody>
      </p:sp>
      <p:sp>
        <p:nvSpPr>
          <p:cNvPr id="35" name="TextBox 34"/>
          <p:cNvSpPr txBox="1"/>
          <p:nvPr/>
        </p:nvSpPr>
        <p:spPr>
          <a:xfrm>
            <a:off x="11492000" y="6528000"/>
            <a:ext cx="500000" cy="330000"/>
          </a:xfrm>
          <a:prstGeom prst="rect">
            <a:avLst/>
          </a:prstGeom>
          <a:noFill/>
        </p:spPr>
        <p:txBody>
          <a:bodyPr wrap="square" lIns="0" rIns="0" tIns="0" bIns="0" anchor="ctr">
            <a:spAutoFit/>
          </a:bodyPr>
          <a:lstStyle/>
          <a:p>
            <a:pPr algn="ctr">
              <a:lnSpc>
                <a:spcPct val="100000"/>
              </a:lnSpc>
            </a:pPr>
            <a:r>
              <a:rPr sz="1400" b="1" i="0">
                <a:solidFill>
                  <a:srgbClr val="FFFFFF"/>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0000"/>
          </a:xfrm>
          <a:prstGeom prst="rect">
            <a:avLst/>
          </a:prstGeom>
          <a:gradFill rotWithShape="1">
            <a:gsLst>
              <a:gs pos="0">
                <a:srgbClr val="0B192C"/>
              </a:gs>
              <a:gs pos="100000">
                <a:srgbClr val="058A5D"/>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0000" y="0"/>
            <a:ext cx="7800000" cy="1000000"/>
          </a:xfrm>
          <a:prstGeom prst="rect">
            <a:avLst/>
          </a:prstGeom>
          <a:noFill/>
        </p:spPr>
        <p:txBody>
          <a:bodyPr wrap="square" lIns="0" rIns="0" tIns="0" bIns="0" anchor="ctr">
            <a:spAutoFit/>
          </a:bodyPr>
          <a:lstStyle/>
          <a:p>
            <a:pPr algn="l">
              <a:lnSpc>
                <a:spcPct val="100000"/>
              </a:lnSpc>
            </a:pPr>
            <a:r>
              <a:rPr sz="2700" b="1" i="0">
                <a:solidFill>
                  <a:srgbClr val="FFFFFF"/>
                </a:solidFill>
                <a:latin typeface="Georgia"/>
              </a:rPr>
              <a:t>FEASIBILITY AND VIABILITY</a:t>
            </a:r>
          </a:p>
        </p:txBody>
      </p:sp>
      <p:sp>
        <p:nvSpPr>
          <p:cNvPr id="4" name="Rounded Rectangle 3"/>
          <p:cNvSpPr/>
          <p:nvPr/>
        </p:nvSpPr>
        <p:spPr>
          <a:xfrm>
            <a:off x="280000" y="140000"/>
            <a:ext cx="720000" cy="7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330000" y="190000"/>
            <a:ext cx="515710" cy="620000"/>
          </a:xfrm>
          <a:prstGeom prst="rect">
            <a:avLst/>
          </a:prstGeom>
        </p:spPr>
      </p:pic>
      <p:sp>
        <p:nvSpPr>
          <p:cNvPr id="6" name="Rounded Rectangle 5"/>
          <p:cNvSpPr/>
          <p:nvPr/>
        </p:nvSpPr>
        <p:spPr>
          <a:xfrm>
            <a:off x="9450000" y="150000"/>
            <a:ext cx="2500000" cy="7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520000" y="210000"/>
            <a:ext cx="1228342" cy="580000"/>
          </a:xfrm>
          <a:prstGeom prst="rect">
            <a:avLst/>
          </a:prstGeom>
        </p:spPr>
      </p:pic>
      <p:sp>
        <p:nvSpPr>
          <p:cNvPr id="8" name="Rounded Rectangle 7"/>
          <p:cNvSpPr/>
          <p:nvPr/>
        </p:nvSpPr>
        <p:spPr>
          <a:xfrm>
            <a:off x="550000" y="1200000"/>
            <a:ext cx="4300000" cy="5280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0000" y="1200000"/>
            <a:ext cx="4300000" cy="60000"/>
          </a:xfrm>
          <a:prstGeom prst="roundRect">
            <a:avLst>
              <a:gd name="adj" fmla="val 50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000" y="1340000"/>
            <a:ext cx="3850000" cy="350000"/>
          </a:xfrm>
          <a:prstGeom prst="rect">
            <a:avLst/>
          </a:prstGeom>
          <a:noFill/>
        </p:spPr>
        <p:txBody>
          <a:bodyPr wrap="square" lIns="0" rIns="0" tIns="0" bIns="0" anchor="t">
            <a:spAutoFit/>
          </a:bodyPr>
          <a:lstStyle/>
          <a:p>
            <a:pPr algn="l">
              <a:lnSpc>
                <a:spcPct val="100000"/>
              </a:lnSpc>
            </a:pPr>
            <a:r>
              <a:rPr sz="1550" b="1" i="0">
                <a:solidFill>
                  <a:srgbClr val="0B192C"/>
                </a:solidFill>
                <a:latin typeface="Arial"/>
              </a:rPr>
              <a:t>✅ Why It's Feasible</a:t>
            </a:r>
          </a:p>
        </p:txBody>
      </p:sp>
      <p:sp>
        <p:nvSpPr>
          <p:cNvPr id="11" name="Oval 10"/>
          <p:cNvSpPr/>
          <p:nvPr/>
        </p:nvSpPr>
        <p:spPr>
          <a:xfrm>
            <a:off x="790000" y="1800000"/>
            <a:ext cx="650000" cy="650000"/>
          </a:xfrm>
          <a:prstGeom prst="ellipse">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01</a:t>
            </a:r>
          </a:p>
        </p:txBody>
      </p:sp>
      <p:sp>
        <p:nvSpPr>
          <p:cNvPr id="12" name="TextBox 11"/>
          <p:cNvSpPr txBox="1"/>
          <p:nvPr/>
        </p:nvSpPr>
        <p:spPr>
          <a:xfrm>
            <a:off x="1570000" y="1810000"/>
            <a:ext cx="3050000" cy="320000"/>
          </a:xfrm>
          <a:prstGeom prst="rect">
            <a:avLst/>
          </a:prstGeom>
          <a:noFill/>
        </p:spPr>
        <p:txBody>
          <a:bodyPr wrap="square" lIns="0" rIns="0" tIns="0" bIns="0" anchor="t">
            <a:spAutoFit/>
          </a:bodyPr>
          <a:lstStyle/>
          <a:p>
            <a:pPr algn="l">
              <a:lnSpc>
                <a:spcPct val="100000"/>
              </a:lnSpc>
            </a:pPr>
            <a:r>
              <a:rPr sz="1300" b="1" i="0">
                <a:solidFill>
                  <a:srgbClr val="0B192C"/>
                </a:solidFill>
                <a:latin typeface="Arial"/>
              </a:rPr>
              <a:t>Scalable</a:t>
            </a:r>
          </a:p>
        </p:txBody>
      </p:sp>
      <p:sp>
        <p:nvSpPr>
          <p:cNvPr id="13" name="TextBox 12"/>
          <p:cNvSpPr txBox="1"/>
          <p:nvPr/>
        </p:nvSpPr>
        <p:spPr>
          <a:xfrm>
            <a:off x="1570000" y="2130000"/>
            <a:ext cx="3050000" cy="500000"/>
          </a:xfrm>
          <a:prstGeom prst="rect">
            <a:avLst/>
          </a:prstGeom>
          <a:noFill/>
        </p:spPr>
        <p:txBody>
          <a:bodyPr wrap="square" lIns="0" rIns="0" tIns="0" bIns="0" anchor="t">
            <a:spAutoFit/>
          </a:bodyPr>
          <a:lstStyle/>
          <a:p>
            <a:pPr algn="l">
              <a:lnSpc>
                <a:spcPct val="105000"/>
              </a:lnSpc>
            </a:pPr>
            <a:r>
              <a:rPr sz="1050" b="0" i="0">
                <a:solidFill>
                  <a:srgbClr val="1A1F2B"/>
                </a:solidFill>
                <a:latin typeface="Arial"/>
              </a:rPr>
              <a:t>Cloud APIs can handle data from large companies.</a:t>
            </a:r>
          </a:p>
        </p:txBody>
      </p:sp>
      <p:sp>
        <p:nvSpPr>
          <p:cNvPr id="14" name="Oval 13"/>
          <p:cNvSpPr/>
          <p:nvPr/>
        </p:nvSpPr>
        <p:spPr>
          <a:xfrm>
            <a:off x="790000" y="2680000"/>
            <a:ext cx="650000" cy="65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02</a:t>
            </a:r>
          </a:p>
        </p:txBody>
      </p:sp>
      <p:sp>
        <p:nvSpPr>
          <p:cNvPr id="15" name="TextBox 14"/>
          <p:cNvSpPr txBox="1"/>
          <p:nvPr/>
        </p:nvSpPr>
        <p:spPr>
          <a:xfrm>
            <a:off x="1570000" y="2690000"/>
            <a:ext cx="3050000" cy="320000"/>
          </a:xfrm>
          <a:prstGeom prst="rect">
            <a:avLst/>
          </a:prstGeom>
          <a:noFill/>
        </p:spPr>
        <p:txBody>
          <a:bodyPr wrap="square" lIns="0" rIns="0" tIns="0" bIns="0" anchor="t">
            <a:spAutoFit/>
          </a:bodyPr>
          <a:lstStyle/>
          <a:p>
            <a:pPr algn="l">
              <a:lnSpc>
                <a:spcPct val="100000"/>
              </a:lnSpc>
            </a:pPr>
            <a:r>
              <a:rPr sz="1300" b="1" i="0">
                <a:solidFill>
                  <a:srgbClr val="0B192C"/>
                </a:solidFill>
                <a:latin typeface="Arial"/>
              </a:rPr>
              <a:t>Cost-Effective</a:t>
            </a:r>
          </a:p>
        </p:txBody>
      </p:sp>
      <p:sp>
        <p:nvSpPr>
          <p:cNvPr id="16" name="TextBox 15"/>
          <p:cNvSpPr txBox="1"/>
          <p:nvPr/>
        </p:nvSpPr>
        <p:spPr>
          <a:xfrm>
            <a:off x="1570000" y="3010000"/>
            <a:ext cx="3050000" cy="500000"/>
          </a:xfrm>
          <a:prstGeom prst="rect">
            <a:avLst/>
          </a:prstGeom>
          <a:noFill/>
        </p:spPr>
        <p:txBody>
          <a:bodyPr wrap="square" lIns="0" rIns="0" tIns="0" bIns="0" anchor="t">
            <a:spAutoFit/>
          </a:bodyPr>
          <a:lstStyle/>
          <a:p>
            <a:pPr algn="l">
              <a:lnSpc>
                <a:spcPct val="105000"/>
              </a:lnSpc>
            </a:pPr>
            <a:r>
              <a:rPr sz="1050" b="0" i="0">
                <a:solidFill>
                  <a:srgbClr val="1A1F2B"/>
                </a:solidFill>
                <a:latin typeface="Arial"/>
              </a:rPr>
              <a:t>Built using free, open-source tools.</a:t>
            </a:r>
          </a:p>
        </p:txBody>
      </p:sp>
      <p:sp>
        <p:nvSpPr>
          <p:cNvPr id="17" name="Oval 16"/>
          <p:cNvSpPr/>
          <p:nvPr/>
        </p:nvSpPr>
        <p:spPr>
          <a:xfrm>
            <a:off x="790000" y="3560000"/>
            <a:ext cx="650000" cy="650000"/>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03</a:t>
            </a:r>
          </a:p>
        </p:txBody>
      </p:sp>
      <p:sp>
        <p:nvSpPr>
          <p:cNvPr id="18" name="TextBox 17"/>
          <p:cNvSpPr txBox="1"/>
          <p:nvPr/>
        </p:nvSpPr>
        <p:spPr>
          <a:xfrm>
            <a:off x="1570000" y="3570000"/>
            <a:ext cx="3050000" cy="320000"/>
          </a:xfrm>
          <a:prstGeom prst="rect">
            <a:avLst/>
          </a:prstGeom>
          <a:noFill/>
        </p:spPr>
        <p:txBody>
          <a:bodyPr wrap="square" lIns="0" rIns="0" tIns="0" bIns="0" anchor="t">
            <a:spAutoFit/>
          </a:bodyPr>
          <a:lstStyle/>
          <a:p>
            <a:pPr algn="l">
              <a:lnSpc>
                <a:spcPct val="100000"/>
              </a:lnSpc>
            </a:pPr>
            <a:r>
              <a:rPr sz="1300" b="1" i="0">
                <a:solidFill>
                  <a:srgbClr val="0B192C"/>
                </a:solidFill>
                <a:latin typeface="Arial"/>
              </a:rPr>
              <a:t>AI-Driven</a:t>
            </a:r>
          </a:p>
        </p:txBody>
      </p:sp>
      <p:sp>
        <p:nvSpPr>
          <p:cNvPr id="19" name="TextBox 18"/>
          <p:cNvSpPr txBox="1"/>
          <p:nvPr/>
        </p:nvSpPr>
        <p:spPr>
          <a:xfrm>
            <a:off x="1570000" y="3890000"/>
            <a:ext cx="3050000" cy="500000"/>
          </a:xfrm>
          <a:prstGeom prst="rect">
            <a:avLst/>
          </a:prstGeom>
          <a:noFill/>
        </p:spPr>
        <p:txBody>
          <a:bodyPr wrap="square" lIns="0" rIns="0" tIns="0" bIns="0" anchor="t">
            <a:spAutoFit/>
          </a:bodyPr>
          <a:lstStyle/>
          <a:p>
            <a:pPr algn="l">
              <a:lnSpc>
                <a:spcPct val="105000"/>
              </a:lnSpc>
            </a:pPr>
            <a:r>
              <a:rPr sz="1050" b="0" i="0">
                <a:solidFill>
                  <a:srgbClr val="1A1F2B"/>
                </a:solidFill>
                <a:latin typeface="Arial"/>
              </a:rPr>
              <a:t>Ready-made AI models give fast, real-time scores.</a:t>
            </a:r>
          </a:p>
        </p:txBody>
      </p:sp>
      <p:sp>
        <p:nvSpPr>
          <p:cNvPr id="20" name="Oval 19"/>
          <p:cNvSpPr/>
          <p:nvPr/>
        </p:nvSpPr>
        <p:spPr>
          <a:xfrm>
            <a:off x="790000" y="4440000"/>
            <a:ext cx="650000" cy="650000"/>
          </a:xfrm>
          <a:prstGeom prst="ellipse">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04</a:t>
            </a:r>
          </a:p>
        </p:txBody>
      </p:sp>
      <p:sp>
        <p:nvSpPr>
          <p:cNvPr id="21" name="TextBox 20"/>
          <p:cNvSpPr txBox="1"/>
          <p:nvPr/>
        </p:nvSpPr>
        <p:spPr>
          <a:xfrm>
            <a:off x="1570000" y="4450000"/>
            <a:ext cx="3050000" cy="320000"/>
          </a:xfrm>
          <a:prstGeom prst="rect">
            <a:avLst/>
          </a:prstGeom>
          <a:noFill/>
        </p:spPr>
        <p:txBody>
          <a:bodyPr wrap="square" lIns="0" rIns="0" tIns="0" bIns="0" anchor="t">
            <a:spAutoFit/>
          </a:bodyPr>
          <a:lstStyle/>
          <a:p>
            <a:pPr algn="l">
              <a:lnSpc>
                <a:spcPct val="100000"/>
              </a:lnSpc>
            </a:pPr>
            <a:r>
              <a:rPr sz="1300" b="1" i="0">
                <a:solidFill>
                  <a:srgbClr val="0B192C"/>
                </a:solidFill>
                <a:latin typeface="Arial"/>
              </a:rPr>
              <a:t>Enterprise-Ready</a:t>
            </a:r>
          </a:p>
        </p:txBody>
      </p:sp>
      <p:sp>
        <p:nvSpPr>
          <p:cNvPr id="22" name="TextBox 21"/>
          <p:cNvSpPr txBox="1"/>
          <p:nvPr/>
        </p:nvSpPr>
        <p:spPr>
          <a:xfrm>
            <a:off x="1570000" y="4770000"/>
            <a:ext cx="3050000" cy="500000"/>
          </a:xfrm>
          <a:prstGeom prst="rect">
            <a:avLst/>
          </a:prstGeom>
          <a:noFill/>
        </p:spPr>
        <p:txBody>
          <a:bodyPr wrap="square" lIns="0" rIns="0" tIns="0" bIns="0" anchor="t">
            <a:spAutoFit/>
          </a:bodyPr>
          <a:lstStyle/>
          <a:p>
            <a:pPr algn="l">
              <a:lnSpc>
                <a:spcPct val="105000"/>
              </a:lnSpc>
            </a:pPr>
            <a:r>
              <a:rPr sz="1050" b="0" i="0">
                <a:solidFill>
                  <a:srgbClr val="1A1F2B"/>
                </a:solidFill>
                <a:latin typeface="Arial"/>
              </a:rPr>
              <a:t>Works for many companies at once (demo: Sentra Bank Ltd.).</a:t>
            </a:r>
          </a:p>
        </p:txBody>
      </p:sp>
      <p:sp>
        <p:nvSpPr>
          <p:cNvPr id="23" name="Oval 22"/>
          <p:cNvSpPr/>
          <p:nvPr/>
        </p:nvSpPr>
        <p:spPr>
          <a:xfrm>
            <a:off x="790000" y="5320000"/>
            <a:ext cx="650000" cy="650000"/>
          </a:xfrm>
          <a:prstGeom prst="ellipse">
            <a:avLst/>
          </a:prstGeom>
          <a:solidFill>
            <a:srgbClr val="058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05</a:t>
            </a:r>
          </a:p>
        </p:txBody>
      </p:sp>
      <p:sp>
        <p:nvSpPr>
          <p:cNvPr id="24" name="TextBox 23"/>
          <p:cNvSpPr txBox="1"/>
          <p:nvPr/>
        </p:nvSpPr>
        <p:spPr>
          <a:xfrm>
            <a:off x="1570000" y="5330000"/>
            <a:ext cx="3050000" cy="320000"/>
          </a:xfrm>
          <a:prstGeom prst="rect">
            <a:avLst/>
          </a:prstGeom>
          <a:noFill/>
        </p:spPr>
        <p:txBody>
          <a:bodyPr wrap="square" lIns="0" rIns="0" tIns="0" bIns="0" anchor="t">
            <a:spAutoFit/>
          </a:bodyPr>
          <a:lstStyle/>
          <a:p>
            <a:pPr algn="l">
              <a:lnSpc>
                <a:spcPct val="100000"/>
              </a:lnSpc>
            </a:pPr>
            <a:r>
              <a:rPr sz="1300" b="1" i="0">
                <a:solidFill>
                  <a:srgbClr val="0B192C"/>
                </a:solidFill>
                <a:latin typeface="Arial"/>
              </a:rPr>
              <a:t>Real-Time</a:t>
            </a:r>
          </a:p>
        </p:txBody>
      </p:sp>
      <p:sp>
        <p:nvSpPr>
          <p:cNvPr id="25" name="TextBox 24"/>
          <p:cNvSpPr txBox="1"/>
          <p:nvPr/>
        </p:nvSpPr>
        <p:spPr>
          <a:xfrm>
            <a:off x="1570000" y="5650000"/>
            <a:ext cx="3050000" cy="500000"/>
          </a:xfrm>
          <a:prstGeom prst="rect">
            <a:avLst/>
          </a:prstGeom>
          <a:noFill/>
        </p:spPr>
        <p:txBody>
          <a:bodyPr wrap="square" lIns="0" rIns="0" tIns="0" bIns="0" anchor="t">
            <a:spAutoFit/>
          </a:bodyPr>
          <a:lstStyle/>
          <a:p>
            <a:pPr algn="l">
              <a:lnSpc>
                <a:spcPct val="105000"/>
              </a:lnSpc>
            </a:pPr>
            <a:r>
              <a:rPr sz="1050" b="0" i="0">
                <a:solidFill>
                  <a:srgbClr val="1A1F2B"/>
                </a:solidFill>
                <a:latin typeface="Arial"/>
              </a:rPr>
              <a:t>Runs all the time, instead of slow yearly checks.</a:t>
            </a:r>
          </a:p>
        </p:txBody>
      </p:sp>
      <p:sp>
        <p:nvSpPr>
          <p:cNvPr id="26" name="TextBox 25"/>
          <p:cNvSpPr txBox="1"/>
          <p:nvPr/>
        </p:nvSpPr>
        <p:spPr>
          <a:xfrm>
            <a:off x="5130000" y="1200000"/>
            <a:ext cx="6572000" cy="330000"/>
          </a:xfrm>
          <a:prstGeom prst="rect">
            <a:avLst/>
          </a:prstGeom>
          <a:noFill/>
        </p:spPr>
        <p:txBody>
          <a:bodyPr wrap="square" lIns="0" rIns="0" tIns="0" bIns="0" anchor="t">
            <a:spAutoFit/>
          </a:bodyPr>
          <a:lstStyle/>
          <a:p>
            <a:pPr algn="l">
              <a:lnSpc>
                <a:spcPct val="100000"/>
              </a:lnSpc>
            </a:pPr>
            <a:r>
              <a:rPr sz="1550" b="1" i="0">
                <a:solidFill>
                  <a:srgbClr val="0B192C"/>
                </a:solidFill>
                <a:latin typeface="Arial"/>
              </a:rPr>
              <a:t>⚡ Challenges → Our Strategy</a:t>
            </a:r>
          </a:p>
        </p:txBody>
      </p:sp>
      <p:sp>
        <p:nvSpPr>
          <p:cNvPr id="27" name="Rounded Rectangle 26"/>
          <p:cNvSpPr/>
          <p:nvPr/>
        </p:nvSpPr>
        <p:spPr>
          <a:xfrm>
            <a:off x="5070000" y="1600000"/>
            <a:ext cx="6572000" cy="1107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70000" y="1600000"/>
            <a:ext cx="60000" cy="11075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90000" y="1690000"/>
            <a:ext cx="6172000" cy="947500"/>
          </a:xfrm>
          <a:prstGeom prst="rect">
            <a:avLst/>
          </a:prstGeom>
          <a:noFill/>
        </p:spPr>
        <p:txBody>
          <a:bodyPr wrap="square" lIns="0" rIns="0" tIns="0" bIns="0" anchor="t">
            <a:spAutoFit/>
          </a:bodyPr>
          <a:lstStyle/>
          <a:p>
            <a:pPr algn="l">
              <a:lnSpc>
                <a:spcPct val="112000"/>
              </a:lnSpc>
              <a:spcAft>
                <a:spcPts val="200"/>
              </a:spcAft>
            </a:pPr>
            <a:r>
              <a:rPr sz="1150" b="1" i="0">
                <a:solidFill>
                  <a:srgbClr val="DC2626"/>
                </a:solidFill>
                <a:latin typeface="Arial"/>
              </a:rPr>
              <a:t>⚠ </a:t>
            </a:r>
            <a:r>
              <a:rPr sz="1150" b="1" i="0">
                <a:solidFill>
                  <a:srgbClr val="DC2626"/>
                </a:solidFill>
                <a:latin typeface="Arial"/>
              </a:rPr>
              <a:t>Handling Live Data Load</a:t>
            </a:r>
          </a:p>
          <a:p>
            <a:pPr algn="l">
              <a:lnSpc>
                <a:spcPct val="112000"/>
              </a:lnSpc>
              <a:spcAft>
                <a:spcPts val="200"/>
              </a:spcAft>
            </a:pPr>
            <a:r>
              <a:rPr sz="1100" b="1" i="0">
                <a:solidFill>
                  <a:srgbClr val="058A5D"/>
                </a:solidFill>
                <a:latin typeface="Arial"/>
              </a:rPr>
              <a:t>✓ </a:t>
            </a:r>
            <a:r>
              <a:rPr sz="1100" b="0" i="0">
                <a:solidFill>
                  <a:srgbClr val="1A1F2B"/>
                </a:solidFill>
                <a:latin typeface="Arial"/>
              </a:rPr>
              <a:t>Our system handles data as soon as it arrives, instead of slow batch jobs.</a:t>
            </a:r>
          </a:p>
        </p:txBody>
      </p:sp>
      <p:sp>
        <p:nvSpPr>
          <p:cNvPr id="30" name="Rounded Rectangle 29"/>
          <p:cNvSpPr/>
          <p:nvPr/>
        </p:nvSpPr>
        <p:spPr>
          <a:xfrm>
            <a:off x="5070000" y="2857500"/>
            <a:ext cx="6572000" cy="1107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70000" y="2857500"/>
            <a:ext cx="60000" cy="11075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90000" y="2947500"/>
            <a:ext cx="6172000" cy="947500"/>
          </a:xfrm>
          <a:prstGeom prst="rect">
            <a:avLst/>
          </a:prstGeom>
          <a:noFill/>
        </p:spPr>
        <p:txBody>
          <a:bodyPr wrap="square" lIns="0" rIns="0" tIns="0" bIns="0" anchor="t">
            <a:spAutoFit/>
          </a:bodyPr>
          <a:lstStyle/>
          <a:p>
            <a:pPr algn="l">
              <a:lnSpc>
                <a:spcPct val="112000"/>
              </a:lnSpc>
              <a:spcAft>
                <a:spcPts val="200"/>
              </a:spcAft>
            </a:pPr>
            <a:r>
              <a:rPr sz="1150" b="1" i="0">
                <a:solidFill>
                  <a:srgbClr val="DC2626"/>
                </a:solidFill>
                <a:latin typeface="Arial"/>
              </a:rPr>
              <a:t>⚠ </a:t>
            </a:r>
            <a:r>
              <a:rPr sz="1150" b="1" i="0">
                <a:solidFill>
                  <a:srgbClr val="DC2626"/>
                </a:solidFill>
                <a:latin typeface="Arial"/>
              </a:rPr>
              <a:t>Meeting Common Security Rules</a:t>
            </a:r>
          </a:p>
          <a:p>
            <a:pPr algn="l">
              <a:lnSpc>
                <a:spcPct val="112000"/>
              </a:lnSpc>
              <a:spcAft>
                <a:spcPts val="200"/>
              </a:spcAft>
            </a:pPr>
            <a:r>
              <a:rPr sz="1100" b="1" i="0">
                <a:solidFill>
                  <a:srgbClr val="058A5D"/>
                </a:solidFill>
                <a:latin typeface="Arial"/>
              </a:rPr>
              <a:t>✓ </a:t>
            </a:r>
            <a:r>
              <a:rPr sz="1100" b="0" i="0">
                <a:solidFill>
                  <a:srgbClr val="1A1F2B"/>
                </a:solidFill>
                <a:latin typeface="Arial"/>
              </a:rPr>
              <a:t>Risk results are already organized to match common security rules and standards.</a:t>
            </a:r>
          </a:p>
        </p:txBody>
      </p:sp>
      <p:sp>
        <p:nvSpPr>
          <p:cNvPr id="33" name="Rounded Rectangle 32"/>
          <p:cNvSpPr/>
          <p:nvPr/>
        </p:nvSpPr>
        <p:spPr>
          <a:xfrm>
            <a:off x="5070000" y="4115000"/>
            <a:ext cx="6572000" cy="1107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70000" y="4115000"/>
            <a:ext cx="60000" cy="11075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90000" y="4205000"/>
            <a:ext cx="6172000" cy="947500"/>
          </a:xfrm>
          <a:prstGeom prst="rect">
            <a:avLst/>
          </a:prstGeom>
          <a:noFill/>
        </p:spPr>
        <p:txBody>
          <a:bodyPr wrap="square" lIns="0" rIns="0" tIns="0" bIns="0" anchor="t">
            <a:spAutoFit/>
          </a:bodyPr>
          <a:lstStyle/>
          <a:p>
            <a:pPr algn="l">
              <a:lnSpc>
                <a:spcPct val="112000"/>
              </a:lnSpc>
              <a:spcAft>
                <a:spcPts val="200"/>
              </a:spcAft>
            </a:pPr>
            <a:r>
              <a:rPr sz="1150" b="1" i="0">
                <a:solidFill>
                  <a:srgbClr val="DC2626"/>
                </a:solidFill>
                <a:latin typeface="Arial"/>
              </a:rPr>
              <a:t>⚠ </a:t>
            </a:r>
            <a:r>
              <a:rPr sz="1150" b="1" i="0">
                <a:solidFill>
                  <a:srgbClr val="DC2626"/>
                </a:solidFill>
                <a:latin typeface="Arial"/>
              </a:rPr>
              <a:t>Getting Leaders To Trust It</a:t>
            </a:r>
          </a:p>
          <a:p>
            <a:pPr algn="l">
              <a:lnSpc>
                <a:spcPct val="112000"/>
              </a:lnSpc>
              <a:spcAft>
                <a:spcPts val="200"/>
              </a:spcAft>
            </a:pPr>
            <a:r>
              <a:rPr sz="1100" b="1" i="0">
                <a:solidFill>
                  <a:srgbClr val="058A5D"/>
                </a:solidFill>
                <a:latin typeface="Arial"/>
              </a:rPr>
              <a:t>✓ </a:t>
            </a:r>
            <a:r>
              <a:rPr sz="1100" b="0" i="0">
                <a:solidFill>
                  <a:srgbClr val="1A1F2B"/>
                </a:solidFill>
                <a:latin typeface="Arial"/>
              </a:rPr>
              <a:t>A simple dashboard using plain money language builds trust with leaders who are not tech experts.</a:t>
            </a:r>
          </a:p>
        </p:txBody>
      </p:sp>
      <p:sp>
        <p:nvSpPr>
          <p:cNvPr id="36" name="Rounded Rectangle 35"/>
          <p:cNvSpPr/>
          <p:nvPr/>
        </p:nvSpPr>
        <p:spPr>
          <a:xfrm>
            <a:off x="5070000" y="5372500"/>
            <a:ext cx="6572000" cy="1107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70000" y="5372500"/>
            <a:ext cx="60000" cy="11075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90000" y="5462500"/>
            <a:ext cx="6172000" cy="947500"/>
          </a:xfrm>
          <a:prstGeom prst="rect">
            <a:avLst/>
          </a:prstGeom>
          <a:noFill/>
        </p:spPr>
        <p:txBody>
          <a:bodyPr wrap="square" lIns="0" rIns="0" tIns="0" bIns="0" anchor="t">
            <a:spAutoFit/>
          </a:bodyPr>
          <a:lstStyle/>
          <a:p>
            <a:pPr algn="l">
              <a:lnSpc>
                <a:spcPct val="112000"/>
              </a:lnSpc>
              <a:spcAft>
                <a:spcPts val="200"/>
              </a:spcAft>
            </a:pPr>
            <a:r>
              <a:rPr sz="1150" b="1" i="0">
                <a:solidFill>
                  <a:srgbClr val="DC2626"/>
                </a:solidFill>
                <a:latin typeface="Arial"/>
              </a:rPr>
              <a:t>⚠ </a:t>
            </a:r>
            <a:r>
              <a:rPr sz="1150" b="1" i="0">
                <a:solidFill>
                  <a:srgbClr val="DC2626"/>
                </a:solidFill>
                <a:latin typeface="Arial"/>
              </a:rPr>
              <a:t>Keeping Data Safe</a:t>
            </a:r>
          </a:p>
          <a:p>
            <a:pPr algn="l">
              <a:lnSpc>
                <a:spcPct val="112000"/>
              </a:lnSpc>
              <a:spcAft>
                <a:spcPts val="200"/>
              </a:spcAft>
            </a:pPr>
            <a:r>
              <a:rPr sz="1100" b="1" i="0">
                <a:solidFill>
                  <a:srgbClr val="058A5D"/>
                </a:solidFill>
                <a:latin typeface="Arial"/>
              </a:rPr>
              <a:t>✓ </a:t>
            </a:r>
            <a:r>
              <a:rPr sz="1100" b="0" i="0">
                <a:solidFill>
                  <a:srgbClr val="1A1F2B"/>
                </a:solidFill>
                <a:latin typeface="Arial"/>
              </a:rPr>
              <a:t>Data is locked (encrypted), with private or on-site setup options for industries that need extra data safety.</a:t>
            </a:r>
          </a:p>
        </p:txBody>
      </p:sp>
      <p:sp>
        <p:nvSpPr>
          <p:cNvPr id="39" name="Rectangle 38"/>
          <p:cNvSpPr/>
          <p:nvPr/>
        </p:nvSpPr>
        <p:spPr>
          <a:xfrm>
            <a:off x="0" y="6528000"/>
            <a:ext cx="12192000" cy="330000"/>
          </a:xfrm>
          <a:prstGeom prst="rect">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0000" y="6528000"/>
            <a:ext cx="9500000" cy="330000"/>
          </a:xfrm>
          <a:prstGeom prst="rect">
            <a:avLst/>
          </a:prstGeom>
          <a:noFill/>
        </p:spPr>
        <p:txBody>
          <a:bodyPr wrap="square" lIns="0" rIns="0" tIns="0" bIns="0" anchor="ctr">
            <a:spAutoFit/>
          </a:bodyPr>
          <a:lstStyle/>
          <a:p>
            <a:pPr algn="l">
              <a:lnSpc>
                <a:spcPct val="100000"/>
              </a:lnSpc>
            </a:pPr>
            <a:r>
              <a:rPr sz="1100" b="0" i="0">
                <a:solidFill>
                  <a:srgbClr val="F8FAFC"/>
                </a:solidFill>
                <a:latin typeface="Arial"/>
              </a:rPr>
              <a:t>Sentra Risk | Team Risk ML  •  SIH26105</a:t>
            </a:r>
          </a:p>
        </p:txBody>
      </p:sp>
      <p:sp>
        <p:nvSpPr>
          <p:cNvPr id="41" name="TextBox 40"/>
          <p:cNvSpPr txBox="1"/>
          <p:nvPr/>
        </p:nvSpPr>
        <p:spPr>
          <a:xfrm>
            <a:off x="11492000" y="6528000"/>
            <a:ext cx="500000" cy="330000"/>
          </a:xfrm>
          <a:prstGeom prst="rect">
            <a:avLst/>
          </a:prstGeom>
          <a:noFill/>
        </p:spPr>
        <p:txBody>
          <a:bodyPr wrap="square" lIns="0" rIns="0" tIns="0" bIns="0" anchor="ctr">
            <a:spAutoFit/>
          </a:bodyPr>
          <a:lstStyle/>
          <a:p>
            <a:pPr algn="ctr">
              <a:lnSpc>
                <a:spcPct val="100000"/>
              </a:lnSpc>
            </a:pPr>
            <a:r>
              <a:rPr sz="1400" b="1" i="0">
                <a:solidFill>
                  <a:srgbClr val="FFFFFF"/>
                </a:solidFill>
                <a:latin typeface="Arial"/>
              </a:rPr>
              <a:t>4</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0000"/>
          </a:xfrm>
          <a:prstGeom prst="rect">
            <a:avLst/>
          </a:prstGeom>
          <a:gradFill rotWithShape="1">
            <a:gsLst>
              <a:gs pos="0">
                <a:srgbClr val="0B192C"/>
              </a:gs>
              <a:gs pos="100000">
                <a:srgbClr val="1E88E5"/>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0000" y="0"/>
            <a:ext cx="7800000" cy="1000000"/>
          </a:xfrm>
          <a:prstGeom prst="rect">
            <a:avLst/>
          </a:prstGeom>
          <a:noFill/>
        </p:spPr>
        <p:txBody>
          <a:bodyPr wrap="square" lIns="0" rIns="0" tIns="0" bIns="0" anchor="ctr">
            <a:spAutoFit/>
          </a:bodyPr>
          <a:lstStyle/>
          <a:p>
            <a:pPr algn="l">
              <a:lnSpc>
                <a:spcPct val="100000"/>
              </a:lnSpc>
            </a:pPr>
            <a:r>
              <a:rPr sz="2800" b="1" i="0">
                <a:solidFill>
                  <a:srgbClr val="FFFFFF"/>
                </a:solidFill>
                <a:latin typeface="Georgia"/>
              </a:rPr>
              <a:t>IMPACT AND BENEFITS</a:t>
            </a:r>
          </a:p>
        </p:txBody>
      </p:sp>
      <p:sp>
        <p:nvSpPr>
          <p:cNvPr id="4" name="Rounded Rectangle 3"/>
          <p:cNvSpPr/>
          <p:nvPr/>
        </p:nvSpPr>
        <p:spPr>
          <a:xfrm>
            <a:off x="280000" y="140000"/>
            <a:ext cx="720000" cy="7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330000" y="190000"/>
            <a:ext cx="515710" cy="620000"/>
          </a:xfrm>
          <a:prstGeom prst="rect">
            <a:avLst/>
          </a:prstGeom>
        </p:spPr>
      </p:pic>
      <p:sp>
        <p:nvSpPr>
          <p:cNvPr id="6" name="Rounded Rectangle 5"/>
          <p:cNvSpPr/>
          <p:nvPr/>
        </p:nvSpPr>
        <p:spPr>
          <a:xfrm>
            <a:off x="9450000" y="150000"/>
            <a:ext cx="2500000" cy="7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520000" y="210000"/>
            <a:ext cx="1228342" cy="580000"/>
          </a:xfrm>
          <a:prstGeom prst="rect">
            <a:avLst/>
          </a:prstGeom>
        </p:spPr>
      </p:pic>
      <p:sp>
        <p:nvSpPr>
          <p:cNvPr id="8" name="Rounded Rectangle 7"/>
          <p:cNvSpPr/>
          <p:nvPr/>
        </p:nvSpPr>
        <p:spPr>
          <a:xfrm>
            <a:off x="550000" y="1200000"/>
            <a:ext cx="3400000" cy="25400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50000" y="1200000"/>
            <a:ext cx="3400000" cy="60000"/>
          </a:xfrm>
          <a:prstGeom prst="roundRect">
            <a:avLst>
              <a:gd name="adj" fmla="val 50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000" y="1430000"/>
            <a:ext cx="2150000" cy="400000"/>
          </a:xfrm>
          <a:prstGeom prst="rect">
            <a:avLst/>
          </a:prstGeom>
          <a:noFill/>
        </p:spPr>
        <p:txBody>
          <a:bodyPr wrap="square" lIns="0" rIns="0" tIns="0" bIns="0" anchor="t">
            <a:spAutoFit/>
          </a:bodyPr>
          <a:lstStyle/>
          <a:p>
            <a:pPr algn="l">
              <a:lnSpc>
                <a:spcPct val="100000"/>
              </a:lnSpc>
            </a:pPr>
            <a:r>
              <a:rPr sz="1450" b="1" i="0">
                <a:solidFill>
                  <a:srgbClr val="0B192C"/>
                </a:solidFill>
                <a:latin typeface="Arial"/>
              </a:rPr>
              <a:t>Executives &amp; Security Heads</a:t>
            </a:r>
          </a:p>
        </p:txBody>
      </p:sp>
      <p:sp>
        <p:nvSpPr>
          <p:cNvPr id="12" name="TextBox 11"/>
          <p:cNvSpPr txBox="1"/>
          <p:nvPr/>
        </p:nvSpPr>
        <p:spPr>
          <a:xfrm>
            <a:off x="780000" y="2250000"/>
            <a:ext cx="2950000" cy="1390000"/>
          </a:xfrm>
          <a:prstGeom prst="rect">
            <a:avLst/>
          </a:prstGeom>
          <a:noFill/>
        </p:spPr>
        <p:txBody>
          <a:bodyPr wrap="square" lIns="0" rIns="0" tIns="0" bIns="0" anchor="t">
            <a:spAutoFit/>
          </a:bodyPr>
          <a:lstStyle/>
          <a:p>
            <a:pPr algn="l">
              <a:lnSpc>
                <a:spcPct val="115000"/>
              </a:lnSpc>
            </a:pPr>
            <a:r>
              <a:rPr sz="1150" b="0" i="0">
                <a:solidFill>
                  <a:srgbClr val="1A1F2B"/>
                </a:solidFill>
                <a:latin typeface="Arial"/>
              </a:rPr>
              <a:t>See risk in rupee terms (EAL/VaR) to plan security budgets.</a:t>
            </a:r>
          </a:p>
        </p:txBody>
      </p:sp>
      <p:sp>
        <p:nvSpPr>
          <p:cNvPr id="13" name="Rounded Rectangle 12"/>
          <p:cNvSpPr/>
          <p:nvPr/>
        </p:nvSpPr>
        <p:spPr>
          <a:xfrm>
            <a:off x="4150000" y="1200000"/>
            <a:ext cx="3400000" cy="2540000"/>
          </a:xfrm>
          <a:prstGeom prst="roundRect">
            <a:avLst>
              <a:gd name="adj" fmla="val 8000"/>
            </a:avLst>
          </a:prstGeom>
          <a:solidFill>
            <a:srgbClr val="E3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150000" y="1200000"/>
            <a:ext cx="3400000" cy="6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0000" y="1430000"/>
            <a:ext cx="2150000" cy="400000"/>
          </a:xfrm>
          <a:prstGeom prst="rect">
            <a:avLst/>
          </a:prstGeom>
          <a:noFill/>
        </p:spPr>
        <p:txBody>
          <a:bodyPr wrap="square" lIns="0" rIns="0" tIns="0" bIns="0" anchor="t">
            <a:spAutoFit/>
          </a:bodyPr>
          <a:lstStyle/>
          <a:p>
            <a:pPr algn="l">
              <a:lnSpc>
                <a:spcPct val="100000"/>
              </a:lnSpc>
            </a:pPr>
            <a:r>
              <a:rPr sz="1450" b="1" i="0">
                <a:solidFill>
                  <a:srgbClr val="0B192C"/>
                </a:solidFill>
                <a:latin typeface="Arial"/>
              </a:rPr>
              <a:t>Security Teams</a:t>
            </a:r>
          </a:p>
        </p:txBody>
      </p:sp>
      <p:sp>
        <p:nvSpPr>
          <p:cNvPr id="17" name="TextBox 16"/>
          <p:cNvSpPr txBox="1"/>
          <p:nvPr/>
        </p:nvSpPr>
        <p:spPr>
          <a:xfrm>
            <a:off x="4380000" y="2250000"/>
            <a:ext cx="2950000" cy="1390000"/>
          </a:xfrm>
          <a:prstGeom prst="rect">
            <a:avLst/>
          </a:prstGeom>
          <a:noFill/>
        </p:spPr>
        <p:txBody>
          <a:bodyPr wrap="square" lIns="0" rIns="0" tIns="0" bIns="0" anchor="t">
            <a:spAutoFit/>
          </a:bodyPr>
          <a:lstStyle/>
          <a:p>
            <a:pPr algn="l">
              <a:lnSpc>
                <a:spcPct val="115000"/>
              </a:lnSpc>
            </a:pPr>
            <a:r>
              <a:rPr sz="1150" b="0" i="0">
                <a:solidFill>
                  <a:srgbClr val="1A1F2B"/>
                </a:solidFill>
                <a:latin typeface="Arial"/>
              </a:rPr>
              <a:t>Ongoing scoring shows what to fix first, so teams face fewer alerts.</a:t>
            </a:r>
          </a:p>
        </p:txBody>
      </p:sp>
      <p:sp>
        <p:nvSpPr>
          <p:cNvPr id="18" name="Rounded Rectangle 17"/>
          <p:cNvSpPr/>
          <p:nvPr/>
        </p:nvSpPr>
        <p:spPr>
          <a:xfrm>
            <a:off x="550000" y="3940000"/>
            <a:ext cx="3400000" cy="2540000"/>
          </a:xfrm>
          <a:prstGeom prst="roundRect">
            <a:avLst>
              <a:gd name="adj" fmla="val 8000"/>
            </a:avLst>
          </a:prstGeom>
          <a:solidFill>
            <a:srgbClr val="FF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50000" y="3940000"/>
            <a:ext cx="3400000" cy="60000"/>
          </a:xfrm>
          <a:prstGeom prst="roundRect">
            <a:avLst>
              <a:gd name="adj" fmla="val 50000"/>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0000" y="4170000"/>
            <a:ext cx="2150000" cy="400000"/>
          </a:xfrm>
          <a:prstGeom prst="rect">
            <a:avLst/>
          </a:prstGeom>
          <a:noFill/>
        </p:spPr>
        <p:txBody>
          <a:bodyPr wrap="square" lIns="0" rIns="0" tIns="0" bIns="0" anchor="t">
            <a:spAutoFit/>
          </a:bodyPr>
          <a:lstStyle/>
          <a:p>
            <a:pPr algn="l">
              <a:lnSpc>
                <a:spcPct val="100000"/>
              </a:lnSpc>
            </a:pPr>
            <a:r>
              <a:rPr sz="1450" b="1" i="0">
                <a:solidFill>
                  <a:srgbClr val="0B192C"/>
                </a:solidFill>
                <a:latin typeface="Arial"/>
              </a:rPr>
              <a:t>Economic Impact</a:t>
            </a:r>
          </a:p>
        </p:txBody>
      </p:sp>
      <p:sp>
        <p:nvSpPr>
          <p:cNvPr id="22" name="TextBox 21"/>
          <p:cNvSpPr txBox="1"/>
          <p:nvPr/>
        </p:nvSpPr>
        <p:spPr>
          <a:xfrm>
            <a:off x="780000" y="4990000"/>
            <a:ext cx="2950000" cy="1390000"/>
          </a:xfrm>
          <a:prstGeom prst="rect">
            <a:avLst/>
          </a:prstGeom>
          <a:noFill/>
        </p:spPr>
        <p:txBody>
          <a:bodyPr wrap="square" lIns="0" rIns="0" tIns="0" bIns="0" anchor="t">
            <a:spAutoFit/>
          </a:bodyPr>
          <a:lstStyle/>
          <a:p>
            <a:pPr algn="l">
              <a:lnSpc>
                <a:spcPct val="115000"/>
              </a:lnSpc>
            </a:pPr>
            <a:r>
              <a:rPr sz="1150" b="0" i="0">
                <a:solidFill>
                  <a:srgbClr val="1A1F2B"/>
                </a:solidFill>
                <a:latin typeface="Arial"/>
              </a:rPr>
              <a:t>Fewer losses from breaches, and lower insurance costs, by fixing risks early.</a:t>
            </a:r>
          </a:p>
        </p:txBody>
      </p:sp>
      <p:sp>
        <p:nvSpPr>
          <p:cNvPr id="23" name="Rounded Rectangle 22"/>
          <p:cNvSpPr/>
          <p:nvPr/>
        </p:nvSpPr>
        <p:spPr>
          <a:xfrm>
            <a:off x="4150000" y="3940000"/>
            <a:ext cx="3400000" cy="2540000"/>
          </a:xfrm>
          <a:prstGeom prst="roundRect">
            <a:avLst>
              <a:gd name="adj" fmla="val 8000"/>
            </a:avLst>
          </a:prstGeom>
          <a:solidFill>
            <a:srgbClr val="F1E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50000" y="3940000"/>
            <a:ext cx="3400000" cy="60000"/>
          </a:xfrm>
          <a:prstGeom prst="roundRect">
            <a:avLst>
              <a:gd name="adj" fmla="val 50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00000" y="4170000"/>
            <a:ext cx="2150000" cy="400000"/>
          </a:xfrm>
          <a:prstGeom prst="rect">
            <a:avLst/>
          </a:prstGeom>
          <a:noFill/>
        </p:spPr>
        <p:txBody>
          <a:bodyPr wrap="square" lIns="0" rIns="0" tIns="0" bIns="0" anchor="t">
            <a:spAutoFit/>
          </a:bodyPr>
          <a:lstStyle/>
          <a:p>
            <a:pPr algn="l">
              <a:lnSpc>
                <a:spcPct val="100000"/>
              </a:lnSpc>
            </a:pPr>
            <a:r>
              <a:rPr sz="1450" b="1" i="0">
                <a:solidFill>
                  <a:srgbClr val="0B192C"/>
                </a:solidFill>
                <a:latin typeface="Arial"/>
              </a:rPr>
              <a:t>Rules &amp; Reporting</a:t>
            </a:r>
          </a:p>
        </p:txBody>
      </p:sp>
      <p:sp>
        <p:nvSpPr>
          <p:cNvPr id="27" name="TextBox 26"/>
          <p:cNvSpPr txBox="1"/>
          <p:nvPr/>
        </p:nvSpPr>
        <p:spPr>
          <a:xfrm>
            <a:off x="4380000" y="4990000"/>
            <a:ext cx="2950000" cy="1390000"/>
          </a:xfrm>
          <a:prstGeom prst="rect">
            <a:avLst/>
          </a:prstGeom>
          <a:noFill/>
        </p:spPr>
        <p:txBody>
          <a:bodyPr wrap="square" lIns="0" rIns="0" tIns="0" bIns="0" anchor="t">
            <a:spAutoFit/>
          </a:bodyPr>
          <a:lstStyle/>
          <a:p>
            <a:pPr algn="l">
              <a:lnSpc>
                <a:spcPct val="115000"/>
              </a:lnSpc>
            </a:pPr>
            <a:r>
              <a:rPr sz="1150" b="0" i="0">
                <a:solidFill>
                  <a:srgbClr val="1A1F2B"/>
                </a:solidFill>
                <a:latin typeface="Arial"/>
              </a:rPr>
              <a:t>Automatic reports that match the rules make audits easy.</a:t>
            </a:r>
          </a:p>
        </p:txBody>
      </p:sp>
      <p:sp>
        <p:nvSpPr>
          <p:cNvPr id="28" name="Rounded Rectangle 27"/>
          <p:cNvSpPr/>
          <p:nvPr/>
        </p:nvSpPr>
        <p:spPr>
          <a:xfrm>
            <a:off x="7770000" y="1200000"/>
            <a:ext cx="3872000" cy="5280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770000" y="1200000"/>
            <a:ext cx="3872000" cy="60000"/>
          </a:xfrm>
          <a:prstGeom prst="roundRect">
            <a:avLst>
              <a:gd name="adj" fmla="val 50000"/>
            </a:avLst>
          </a:prstGeom>
          <a:solidFill>
            <a:srgbClr val="058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0000" y="1350000"/>
            <a:ext cx="3422000" cy="600000"/>
          </a:xfrm>
          <a:prstGeom prst="rect">
            <a:avLst/>
          </a:prstGeom>
          <a:noFill/>
        </p:spPr>
        <p:txBody>
          <a:bodyPr wrap="square" lIns="0" rIns="0" tIns="0" bIns="0" anchor="t">
            <a:spAutoFit/>
          </a:bodyPr>
          <a:lstStyle/>
          <a:p>
            <a:pPr algn="l">
              <a:lnSpc>
                <a:spcPct val="100000"/>
              </a:lnSpc>
            </a:pPr>
            <a:r>
              <a:rPr sz="1450" b="1" i="0">
                <a:solidFill>
                  <a:srgbClr val="0B192C"/>
                </a:solidFill>
                <a:latin typeface="Arial"/>
              </a:rPr>
              <a:t>📈 Value Flow</a:t>
            </a:r>
          </a:p>
        </p:txBody>
      </p:sp>
      <p:sp>
        <p:nvSpPr>
          <p:cNvPr id="31" name="Rounded Rectangle 30"/>
          <p:cNvSpPr/>
          <p:nvPr/>
        </p:nvSpPr>
        <p:spPr>
          <a:xfrm>
            <a:off x="8000000" y="1900000"/>
            <a:ext cx="3412000" cy="560000"/>
          </a:xfrm>
          <a:prstGeom prst="roundRect">
            <a:avLst>
              <a:gd name="adj" fmla="val 22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Arial"/>
              </a:rPr>
              <a:t>Continuous</a:t>
            </a:r>
          </a:p>
          <a:p>
            <a:pPr algn="ctr"/>
            <a:r>
              <a:rPr sz="1150" b="1">
                <a:solidFill>
                  <a:srgbClr val="FFFFFF"/>
                </a:solidFill>
                <a:latin typeface="Arial"/>
              </a:rPr>
              <a:t>Monitoring</a:t>
            </a:r>
          </a:p>
        </p:txBody>
      </p:sp>
      <p:sp>
        <p:nvSpPr>
          <p:cNvPr id="32" name="Rounded Rectangle 31"/>
          <p:cNvSpPr/>
          <p:nvPr/>
        </p:nvSpPr>
        <p:spPr>
          <a:xfrm>
            <a:off x="8000000" y="2892500"/>
            <a:ext cx="3412000" cy="560000"/>
          </a:xfrm>
          <a:prstGeom prst="roundRect">
            <a:avLst>
              <a:gd name="adj" fmla="val 22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Arial"/>
              </a:rPr>
              <a:t>AI Risk</a:t>
            </a:r>
          </a:p>
          <a:p>
            <a:pPr algn="ctr"/>
            <a:r>
              <a:rPr sz="1150" b="1">
                <a:solidFill>
                  <a:srgbClr val="FFFFFF"/>
                </a:solidFill>
                <a:latin typeface="Arial"/>
              </a:rPr>
              <a:t>Scoring</a:t>
            </a:r>
          </a:p>
        </p:txBody>
      </p:sp>
      <p:sp>
        <p:nvSpPr>
          <p:cNvPr id="33" name="Rounded Rectangle 32"/>
          <p:cNvSpPr/>
          <p:nvPr/>
        </p:nvSpPr>
        <p:spPr>
          <a:xfrm>
            <a:off x="8000000" y="3885000"/>
            <a:ext cx="3412000" cy="560000"/>
          </a:xfrm>
          <a:prstGeom prst="roundRect">
            <a:avLst>
              <a:gd name="adj" fmla="val 2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Arial"/>
              </a:rPr>
              <a:t>Money Value</a:t>
            </a:r>
          </a:p>
          <a:p>
            <a:pPr algn="ctr"/>
            <a:r>
              <a:rPr sz="1150" b="1">
                <a:solidFill>
                  <a:srgbClr val="FFFFFF"/>
                </a:solidFill>
                <a:latin typeface="Arial"/>
              </a:rPr>
              <a:t>(EAL / VaR)</a:t>
            </a:r>
          </a:p>
        </p:txBody>
      </p:sp>
      <p:sp>
        <p:nvSpPr>
          <p:cNvPr id="34" name="Rounded Rectangle 33"/>
          <p:cNvSpPr/>
          <p:nvPr/>
        </p:nvSpPr>
        <p:spPr>
          <a:xfrm>
            <a:off x="8000000" y="4877500"/>
            <a:ext cx="3412000" cy="560000"/>
          </a:xfrm>
          <a:prstGeom prst="roundRect">
            <a:avLst>
              <a:gd name="adj" fmla="val 22000"/>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Arial"/>
              </a:rPr>
              <a:t>Smarter</a:t>
            </a:r>
          </a:p>
          <a:p>
            <a:pPr algn="ctr"/>
            <a:r>
              <a:rPr sz="1150" b="1">
                <a:solidFill>
                  <a:srgbClr val="FFFFFF"/>
                </a:solidFill>
                <a:latin typeface="Arial"/>
              </a:rPr>
              <a:t>Spend</a:t>
            </a:r>
          </a:p>
        </p:txBody>
      </p:sp>
      <p:sp>
        <p:nvSpPr>
          <p:cNvPr id="35" name="Rounded Rectangle 34"/>
          <p:cNvSpPr/>
          <p:nvPr/>
        </p:nvSpPr>
        <p:spPr>
          <a:xfrm>
            <a:off x="8000000" y="5870000"/>
            <a:ext cx="3412000" cy="560000"/>
          </a:xfrm>
          <a:prstGeom prst="roundRect">
            <a:avLst>
              <a:gd name="adj" fmla="val 22000"/>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Arial"/>
              </a:rPr>
              <a:t>Fewer Losses</a:t>
            </a:r>
          </a:p>
          <a:p>
            <a:pPr algn="ctr"/>
            <a:r>
              <a:rPr sz="1150" b="1">
                <a:solidFill>
                  <a:srgbClr val="FFFFFF"/>
                </a:solidFill>
                <a:latin typeface="Arial"/>
              </a:rPr>
              <a:t>&amp; Compliance</a:t>
            </a:r>
          </a:p>
        </p:txBody>
      </p:sp>
      <p:cxnSp>
        <p:nvCxnSpPr>
          <p:cNvPr id="36" name="Connector 35"/>
          <p:cNvCxnSpPr/>
          <p:nvPr/>
        </p:nvCxnSpPr>
        <p:spPr>
          <a:xfrm>
            <a:off x="9706000" y="2475000"/>
            <a:ext cx="0" cy="402500"/>
          </a:xfrm>
          <a:prstGeom prst="bentConnector3">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706000" y="3467500"/>
            <a:ext cx="0" cy="402500"/>
          </a:xfrm>
          <a:prstGeom prst="bentConnector3">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706000" y="4460000"/>
            <a:ext cx="0" cy="402500"/>
          </a:xfrm>
          <a:prstGeom prst="bentConnector3">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06000" y="5452500"/>
            <a:ext cx="0" cy="402500"/>
          </a:xfrm>
          <a:prstGeom prst="bentConnector3">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0" y="6528000"/>
            <a:ext cx="12192000" cy="330000"/>
          </a:xfrm>
          <a:prstGeom prst="rect">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0000" y="6528000"/>
            <a:ext cx="9500000" cy="330000"/>
          </a:xfrm>
          <a:prstGeom prst="rect">
            <a:avLst/>
          </a:prstGeom>
          <a:noFill/>
        </p:spPr>
        <p:txBody>
          <a:bodyPr wrap="square" lIns="0" rIns="0" tIns="0" bIns="0" anchor="ctr">
            <a:spAutoFit/>
          </a:bodyPr>
          <a:lstStyle/>
          <a:p>
            <a:pPr algn="l">
              <a:lnSpc>
                <a:spcPct val="100000"/>
              </a:lnSpc>
            </a:pPr>
            <a:r>
              <a:rPr sz="1100" b="0" i="0">
                <a:solidFill>
                  <a:srgbClr val="F8FAFC"/>
                </a:solidFill>
                <a:latin typeface="Arial"/>
              </a:rPr>
              <a:t>Sentra Risk | Team Risk ML  •  SIH26105</a:t>
            </a:r>
          </a:p>
        </p:txBody>
      </p:sp>
      <p:sp>
        <p:nvSpPr>
          <p:cNvPr id="42" name="TextBox 41"/>
          <p:cNvSpPr txBox="1"/>
          <p:nvPr/>
        </p:nvSpPr>
        <p:spPr>
          <a:xfrm>
            <a:off x="11492000" y="6528000"/>
            <a:ext cx="500000" cy="330000"/>
          </a:xfrm>
          <a:prstGeom prst="rect">
            <a:avLst/>
          </a:prstGeom>
          <a:noFill/>
        </p:spPr>
        <p:txBody>
          <a:bodyPr wrap="square" lIns="0" rIns="0" tIns="0" bIns="0" anchor="ctr">
            <a:spAutoFit/>
          </a:bodyPr>
          <a:lstStyle/>
          <a:p>
            <a:pPr algn="ctr">
              <a:lnSpc>
                <a:spcPct val="100000"/>
              </a:lnSpc>
            </a:pPr>
            <a:r>
              <a:rPr sz="1400" b="1" i="0">
                <a:solidFill>
                  <a:srgbClr val="FFFFFF"/>
                </a:solidFill>
                <a:latin typeface="Arial"/>
              </a:rPr>
              <a:t>5</a:t>
            </a:r>
          </a:p>
        </p:txBody>
      </p:sp>
      <p:sp>
        <p:nvSpPr>
          <p:cNvPr id="43" name="Oval 42"/>
          <p:cNvSpPr/>
          <p:nvPr/>
        </p:nvSpPr>
        <p:spPr>
          <a:xfrm>
            <a:off x="780000" y="1420000"/>
            <a:ext cx="700000" cy="700000"/>
          </a:xfrm>
          <a:prstGeom prst="ellipse">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0000" y="1420000"/>
            <a:ext cx="700000" cy="700000"/>
          </a:xfrm>
          <a:prstGeom prst="rect">
            <a:avLst/>
          </a:prstGeom>
          <a:noFill/>
        </p:spPr>
        <p:txBody>
          <a:bodyPr wrap="square" lIns="0" rIns="0" tIns="0" bIns="0" anchor="ctr">
            <a:spAutoFit/>
          </a:bodyPr>
          <a:lstStyle/>
          <a:p>
            <a:pPr algn="ctr">
              <a:lnSpc>
                <a:spcPct val="100000"/>
              </a:lnSpc>
            </a:pPr>
            <a:r>
              <a:rPr sz="2600" b="0" i="0">
                <a:solidFill>
                  <a:srgbClr val="FFFFFF"/>
                </a:solidFill>
                <a:latin typeface="Arial"/>
              </a:rPr>
              <a:t>💼</a:t>
            </a:r>
          </a:p>
        </p:txBody>
      </p:sp>
      <p:sp>
        <p:nvSpPr>
          <p:cNvPr id="45" name="Oval 44"/>
          <p:cNvSpPr/>
          <p:nvPr/>
        </p:nvSpPr>
        <p:spPr>
          <a:xfrm>
            <a:off x="4380000" y="1420000"/>
            <a:ext cx="700000" cy="70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80000" y="1420000"/>
            <a:ext cx="700000" cy="700000"/>
          </a:xfrm>
          <a:prstGeom prst="rect">
            <a:avLst/>
          </a:prstGeom>
          <a:noFill/>
        </p:spPr>
        <p:txBody>
          <a:bodyPr wrap="square" lIns="0" rIns="0" tIns="0" bIns="0" anchor="ctr">
            <a:spAutoFit/>
          </a:bodyPr>
          <a:lstStyle/>
          <a:p>
            <a:pPr algn="ctr">
              <a:lnSpc>
                <a:spcPct val="100000"/>
              </a:lnSpc>
            </a:pPr>
            <a:r>
              <a:rPr sz="2600" b="0" i="0">
                <a:solidFill>
                  <a:srgbClr val="FFFFFF"/>
                </a:solidFill>
                <a:latin typeface="Arial"/>
              </a:rPr>
              <a:t>🛡</a:t>
            </a:r>
          </a:p>
        </p:txBody>
      </p:sp>
      <p:sp>
        <p:nvSpPr>
          <p:cNvPr id="47" name="Oval 46"/>
          <p:cNvSpPr/>
          <p:nvPr/>
        </p:nvSpPr>
        <p:spPr>
          <a:xfrm>
            <a:off x="780000" y="4160000"/>
            <a:ext cx="700000" cy="700000"/>
          </a:xfrm>
          <a:prstGeom prst="ellipse">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0000" y="4160000"/>
            <a:ext cx="700000" cy="700000"/>
          </a:xfrm>
          <a:prstGeom prst="rect">
            <a:avLst/>
          </a:prstGeom>
          <a:noFill/>
        </p:spPr>
        <p:txBody>
          <a:bodyPr wrap="square" lIns="0" rIns="0" tIns="0" bIns="0" anchor="ctr">
            <a:spAutoFit/>
          </a:bodyPr>
          <a:lstStyle/>
          <a:p>
            <a:pPr algn="ctr">
              <a:lnSpc>
                <a:spcPct val="100000"/>
              </a:lnSpc>
            </a:pPr>
            <a:r>
              <a:rPr sz="2600" b="0" i="0">
                <a:solidFill>
                  <a:srgbClr val="FFFFFF"/>
                </a:solidFill>
                <a:latin typeface="Arial"/>
              </a:rPr>
              <a:t>💰</a:t>
            </a:r>
          </a:p>
        </p:txBody>
      </p:sp>
      <p:sp>
        <p:nvSpPr>
          <p:cNvPr id="49" name="Oval 48"/>
          <p:cNvSpPr/>
          <p:nvPr/>
        </p:nvSpPr>
        <p:spPr>
          <a:xfrm>
            <a:off x="4380000" y="4160000"/>
            <a:ext cx="700000" cy="700000"/>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80000" y="4160000"/>
            <a:ext cx="700000" cy="700000"/>
          </a:xfrm>
          <a:prstGeom prst="rect">
            <a:avLst/>
          </a:prstGeom>
          <a:noFill/>
        </p:spPr>
        <p:txBody>
          <a:bodyPr wrap="square" lIns="0" rIns="0" tIns="0" bIns="0" anchor="ctr">
            <a:spAutoFit/>
          </a:bodyPr>
          <a:lstStyle/>
          <a:p>
            <a:pPr algn="ctr">
              <a:lnSpc>
                <a:spcPct val="100000"/>
              </a:lnSpc>
            </a:pPr>
            <a:r>
              <a:rPr sz="2600" b="0" i="0">
                <a:solidFill>
                  <a:srgbClr val="FFFFFF"/>
                </a:solidFill>
                <a:latin typeface="Arial"/>
              </a:rPr>
              <a: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00000"/>
          </a:xfrm>
          <a:prstGeom prst="rect">
            <a:avLst/>
          </a:prstGeom>
          <a:gradFill rotWithShape="1">
            <a:gsLst>
              <a:gs pos="0">
                <a:srgbClr val="0B192C"/>
              </a:gs>
              <a:gs pos="100000">
                <a:srgbClr val="058A5D"/>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0000" y="0"/>
            <a:ext cx="7800000" cy="1000000"/>
          </a:xfrm>
          <a:prstGeom prst="rect">
            <a:avLst/>
          </a:prstGeom>
          <a:noFill/>
        </p:spPr>
        <p:txBody>
          <a:bodyPr wrap="square" lIns="0" rIns="0" tIns="0" bIns="0" anchor="ctr">
            <a:spAutoFit/>
          </a:bodyPr>
          <a:lstStyle/>
          <a:p>
            <a:pPr algn="l">
              <a:lnSpc>
                <a:spcPct val="100000"/>
              </a:lnSpc>
            </a:pPr>
            <a:r>
              <a:rPr sz="2700" b="1" i="0">
                <a:solidFill>
                  <a:srgbClr val="FFFFFF"/>
                </a:solidFill>
                <a:latin typeface="Georgia"/>
              </a:rPr>
              <a:t>RESEARCH AND REFERENCES</a:t>
            </a:r>
          </a:p>
        </p:txBody>
      </p:sp>
      <p:sp>
        <p:nvSpPr>
          <p:cNvPr id="4" name="Rounded Rectangle 3"/>
          <p:cNvSpPr/>
          <p:nvPr/>
        </p:nvSpPr>
        <p:spPr>
          <a:xfrm>
            <a:off x="280000" y="140000"/>
            <a:ext cx="720000" cy="7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330000" y="190000"/>
            <a:ext cx="515710" cy="620000"/>
          </a:xfrm>
          <a:prstGeom prst="rect">
            <a:avLst/>
          </a:prstGeom>
        </p:spPr>
      </p:pic>
      <p:sp>
        <p:nvSpPr>
          <p:cNvPr id="6" name="Rounded Rectangle 5"/>
          <p:cNvSpPr/>
          <p:nvPr/>
        </p:nvSpPr>
        <p:spPr>
          <a:xfrm>
            <a:off x="9450000" y="150000"/>
            <a:ext cx="2500000" cy="70000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520000" y="210000"/>
            <a:ext cx="1228342" cy="580000"/>
          </a:xfrm>
          <a:prstGeom prst="rect">
            <a:avLst/>
          </a:prstGeom>
        </p:spPr>
      </p:pic>
      <p:sp>
        <p:nvSpPr>
          <p:cNvPr id="15" name="Rounded Rectangle 14"/>
          <p:cNvSpPr/>
          <p:nvPr/>
        </p:nvSpPr>
        <p:spPr>
          <a:xfrm>
            <a:off x="550000" y="2565000"/>
            <a:ext cx="5446000" cy="2550000"/>
          </a:xfrm>
          <a:prstGeom prst="roundRect">
            <a:avLst>
              <a:gd name="adj" fmla="val 8000"/>
            </a:avLst>
          </a:prstGeom>
          <a:solidFill>
            <a:srgbClr val="E3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50000" y="2565000"/>
            <a:ext cx="5446000" cy="6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0000" y="2705000"/>
            <a:ext cx="4996000" cy="330000"/>
          </a:xfrm>
          <a:prstGeom prst="rect">
            <a:avLst/>
          </a:prstGeom>
          <a:noFill/>
        </p:spPr>
        <p:txBody>
          <a:bodyPr wrap="square" lIns="0" rIns="0" tIns="0" bIns="0" anchor="t">
            <a:spAutoFit/>
          </a:bodyPr>
          <a:lstStyle/>
          <a:p>
            <a:pPr algn="l">
              <a:lnSpc>
                <a:spcPct val="100000"/>
              </a:lnSpc>
            </a:pPr>
            <a:r>
              <a:rPr sz="1400" b="1" i="0">
                <a:solidFill>
                  <a:srgbClr val="0B192C"/>
                </a:solidFill>
                <a:latin typeface="Arial"/>
              </a:rPr>
              <a:t>📚 Data &amp; Research Sources</a:t>
            </a:r>
          </a:p>
        </p:txBody>
      </p:sp>
      <p:sp>
        <p:nvSpPr>
          <p:cNvPr id="18" name="TextBox 17"/>
          <p:cNvSpPr txBox="1"/>
          <p:nvPr/>
        </p:nvSpPr>
        <p:spPr>
          <a:xfrm>
            <a:off x="780000" y="3085000"/>
            <a:ext cx="4996000" cy="487500"/>
          </a:xfrm>
          <a:prstGeom prst="rect">
            <a:avLst/>
          </a:prstGeom>
          <a:noFill/>
        </p:spPr>
        <p:txBody>
          <a:bodyPr wrap="square" lIns="0" rIns="0" tIns="0" bIns="0" anchor="t">
            <a:spAutoFit/>
          </a:bodyPr>
          <a:lstStyle/>
          <a:p>
            <a:pPr algn="l">
              <a:lnSpc>
                <a:spcPct val="105000"/>
              </a:lnSpc>
            </a:pPr>
            <a:r>
              <a:rPr sz="1100" b="1" i="0">
                <a:solidFill>
                  <a:srgbClr val="058A5D"/>
                </a:solidFill>
                <a:latin typeface="Arial"/>
              </a:rPr>
              <a:t>• </a:t>
            </a:r>
            <a:r>
              <a:rPr sz="1100" b="1" i="0">
                <a:solidFill>
                  <a:srgbClr val="0B192C"/>
                </a:solidFill>
                <a:latin typeface="Arial"/>
              </a:rPr>
              <a:t>NVD (Vulnerability Database)</a:t>
            </a:r>
          </a:p>
          <a:p>
            <a:pPr algn="l">
              <a:lnSpc>
                <a:spcPct val="105000"/>
              </a:lnSpc>
            </a:pPr>
            <a:r>
              <a:rPr sz="950" b="0" i="0">
                <a:solidFill>
                  <a:srgbClr val="6B7280"/>
                </a:solidFill>
                <a:latin typeface="Arial"/>
              </a:rPr>
              <a:t>A US government list of known software bugs.</a:t>
            </a:r>
          </a:p>
        </p:txBody>
      </p:sp>
      <p:sp>
        <p:nvSpPr>
          <p:cNvPr id="19" name="TextBox 18"/>
          <p:cNvSpPr txBox="1"/>
          <p:nvPr/>
        </p:nvSpPr>
        <p:spPr>
          <a:xfrm>
            <a:off x="780000" y="3572500"/>
            <a:ext cx="4996000" cy="487500"/>
          </a:xfrm>
          <a:prstGeom prst="rect">
            <a:avLst/>
          </a:prstGeom>
          <a:noFill/>
        </p:spPr>
        <p:txBody>
          <a:bodyPr wrap="square" lIns="0" rIns="0" tIns="0" bIns="0" anchor="t">
            <a:spAutoFit/>
          </a:bodyPr>
          <a:lstStyle/>
          <a:p>
            <a:pPr algn="l">
              <a:lnSpc>
                <a:spcPct val="105000"/>
              </a:lnSpc>
            </a:pPr>
            <a:r>
              <a:rPr sz="1100" b="1" i="0">
                <a:solidFill>
                  <a:srgbClr val="058A5D"/>
                </a:solidFill>
                <a:latin typeface="Arial"/>
              </a:rPr>
              <a:t>• </a:t>
            </a:r>
            <a:r>
              <a:rPr sz="1100" b="1" i="0">
                <a:solidFill>
                  <a:srgbClr val="0B192C"/>
                </a:solidFill>
                <a:latin typeface="Arial"/>
              </a:rPr>
              <a:t>IBM Cost of a Data Breach Report</a:t>
            </a:r>
          </a:p>
          <a:p>
            <a:pPr algn="l">
              <a:lnSpc>
                <a:spcPct val="105000"/>
              </a:lnSpc>
            </a:pPr>
            <a:r>
              <a:rPr sz="950" b="0" i="0">
                <a:solidFill>
                  <a:srgbClr val="6B7280"/>
                </a:solidFill>
                <a:latin typeface="Arial"/>
              </a:rPr>
              <a:t>Average cost of a data breach, by industry.</a:t>
            </a:r>
          </a:p>
        </p:txBody>
      </p:sp>
      <p:sp>
        <p:nvSpPr>
          <p:cNvPr id="20" name="TextBox 19"/>
          <p:cNvSpPr txBox="1"/>
          <p:nvPr/>
        </p:nvSpPr>
        <p:spPr>
          <a:xfrm>
            <a:off x="780000" y="4060000"/>
            <a:ext cx="4996000" cy="487500"/>
          </a:xfrm>
          <a:prstGeom prst="rect">
            <a:avLst/>
          </a:prstGeom>
          <a:noFill/>
        </p:spPr>
        <p:txBody>
          <a:bodyPr wrap="square" lIns="0" rIns="0" tIns="0" bIns="0" anchor="t">
            <a:spAutoFit/>
          </a:bodyPr>
          <a:lstStyle/>
          <a:p>
            <a:pPr algn="l">
              <a:lnSpc>
                <a:spcPct val="105000"/>
              </a:lnSpc>
            </a:pPr>
            <a:r>
              <a:rPr sz="1100" b="1" i="0">
                <a:solidFill>
                  <a:srgbClr val="058A5D"/>
                </a:solidFill>
                <a:latin typeface="Arial"/>
              </a:rPr>
              <a:t>• </a:t>
            </a:r>
            <a:r>
              <a:rPr sz="1100" b="1" i="0">
                <a:solidFill>
                  <a:srgbClr val="0B192C"/>
                </a:solidFill>
                <a:latin typeface="Arial"/>
              </a:rPr>
              <a:t>EPSS (Exploit Prediction)</a:t>
            </a:r>
          </a:p>
          <a:p>
            <a:pPr algn="l">
              <a:lnSpc>
                <a:spcPct val="105000"/>
              </a:lnSpc>
            </a:pPr>
            <a:r>
              <a:rPr sz="950" b="0" i="0">
                <a:solidFill>
                  <a:srgbClr val="6B7280"/>
                </a:solidFill>
                <a:latin typeface="Arial"/>
              </a:rPr>
              <a:t>Predicts how likely a vulnerability will be attacked soon.</a:t>
            </a:r>
          </a:p>
        </p:txBody>
      </p:sp>
      <p:sp>
        <p:nvSpPr>
          <p:cNvPr id="21" name="TextBox 20"/>
          <p:cNvSpPr txBox="1"/>
          <p:nvPr/>
        </p:nvSpPr>
        <p:spPr>
          <a:xfrm>
            <a:off x="780000" y="4547500"/>
            <a:ext cx="4996000" cy="487500"/>
          </a:xfrm>
          <a:prstGeom prst="rect">
            <a:avLst/>
          </a:prstGeom>
          <a:noFill/>
        </p:spPr>
        <p:txBody>
          <a:bodyPr wrap="square" lIns="0" rIns="0" tIns="0" bIns="0" anchor="t">
            <a:spAutoFit/>
          </a:bodyPr>
          <a:lstStyle/>
          <a:p>
            <a:pPr algn="l">
              <a:lnSpc>
                <a:spcPct val="105000"/>
              </a:lnSpc>
            </a:pPr>
            <a:r>
              <a:rPr sz="1100" b="1" i="0">
                <a:solidFill>
                  <a:srgbClr val="058A5D"/>
                </a:solidFill>
                <a:latin typeface="Arial"/>
              </a:rPr>
              <a:t>• </a:t>
            </a:r>
            <a:r>
              <a:rPr sz="1100" b="1" i="0">
                <a:solidFill>
                  <a:srgbClr val="0B192C"/>
                </a:solidFill>
                <a:latin typeface="Arial"/>
              </a:rPr>
              <a:t>Global Ransomware Cost Reports</a:t>
            </a:r>
          </a:p>
          <a:p>
            <a:pPr algn="l">
              <a:lnSpc>
                <a:spcPct val="105000"/>
              </a:lnSpc>
            </a:pPr>
            <a:r>
              <a:rPr sz="950" b="0" i="0">
                <a:solidFill>
                  <a:srgbClr val="6B7280"/>
                </a:solidFill>
                <a:latin typeface="Arial"/>
              </a:rPr>
              <a:t>Industry data on money lost to ransomware attacks.</a:t>
            </a:r>
          </a:p>
        </p:txBody>
      </p:sp>
      <p:sp>
        <p:nvSpPr>
          <p:cNvPr id="27" name="Rounded Rectangle 26"/>
          <p:cNvSpPr/>
          <p:nvPr/>
        </p:nvSpPr>
        <p:spPr>
          <a:xfrm>
            <a:off x="6196000" y="2575000"/>
            <a:ext cx="5446000" cy="2530000"/>
          </a:xfrm>
          <a:prstGeom prst="roundRect">
            <a:avLst>
              <a:gd name="adj" fmla="val 8000"/>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6000" y="2705000"/>
            <a:ext cx="4996000" cy="320000"/>
          </a:xfrm>
          <a:prstGeom prst="rect">
            <a:avLst/>
          </a:prstGeom>
          <a:noFill/>
        </p:spPr>
        <p:txBody>
          <a:bodyPr wrap="square" lIns="0" rIns="0" tIns="0" bIns="0" anchor="t">
            <a:spAutoFit/>
          </a:bodyPr>
          <a:lstStyle/>
          <a:p>
            <a:pPr algn="l">
              <a:lnSpc>
                <a:spcPct val="100000"/>
              </a:lnSpc>
            </a:pPr>
            <a:r>
              <a:rPr sz="1350" b="1" i="0">
                <a:solidFill>
                  <a:srgbClr val="FFFFFF"/>
                </a:solidFill>
                <a:latin typeface="Arial"/>
              </a:rPr>
              <a:t>🌐 Live Prototype — </a:t>
            </a:r>
            <a:r>
              <a:rPr sz="1350" b="1" i="0">
                <a:solidFill>
                  <a:srgbClr val="10B981"/>
                </a:solidFill>
                <a:latin typeface="Arial"/>
              </a:rPr>
              <a:t>Sentra Risk</a:t>
            </a:r>
          </a:p>
        </p:txBody>
      </p:sp>
      <p:sp>
        <p:nvSpPr>
          <p:cNvPr id="29" name="Rounded Rectangle 28"/>
          <p:cNvSpPr/>
          <p:nvPr/>
        </p:nvSpPr>
        <p:spPr>
          <a:xfrm>
            <a:off x="6426000" y="3075000"/>
            <a:ext cx="4996000" cy="330000"/>
          </a:xfrm>
          <a:prstGeom prst="roundRect">
            <a:avLst>
              <a:gd name="adj" fmla="val 3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76000" y="3190000"/>
            <a:ext cx="100000" cy="10000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36000" y="3190000"/>
            <a:ext cx="100000" cy="100000"/>
          </a:xfrm>
          <a:prstGeom prst="ellipse">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796000" y="3190000"/>
            <a:ext cx="100000" cy="1000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96000" y="3075000"/>
            <a:ext cx="4296000" cy="330000"/>
          </a:xfrm>
          <a:prstGeom prst="rect">
            <a:avLst/>
          </a:prstGeom>
          <a:noFill/>
        </p:spPr>
        <p:txBody>
          <a:bodyPr wrap="square" lIns="0" rIns="0" tIns="0" bIns="0" anchor="ctr">
            <a:spAutoFit/>
          </a:bodyPr>
          <a:lstStyle/>
          <a:p>
            <a:pPr algn="l">
              <a:lnSpc>
                <a:spcPct val="100000"/>
              </a:lnSpc>
            </a:pPr>
            <a:r>
              <a:rPr sz="1050" b="0" i="0">
                <a:solidFill>
                  <a:srgbClr val="6B7280"/>
                </a:solidFill>
                <a:latin typeface="Arial"/>
              </a:rPr>
              <a:t>sentra-risk.vercel.app</a:t>
            </a:r>
          </a:p>
        </p:txBody>
      </p:sp>
      <p:sp>
        <p:nvSpPr>
          <p:cNvPr id="34" name="Rounded Rectangle 33"/>
          <p:cNvSpPr/>
          <p:nvPr/>
        </p:nvSpPr>
        <p:spPr>
          <a:xfrm>
            <a:off x="6426000" y="3505000"/>
            <a:ext cx="1605333" cy="400000"/>
          </a:xfrm>
          <a:prstGeom prst="roundRect">
            <a:avLst>
              <a:gd name="adj" fmla="val 50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950" b="1">
                <a:solidFill>
                  <a:srgbClr val="FFFFFF"/>
                </a:solidFill>
                <a:latin typeface="Arial"/>
              </a:rPr>
              <a:t>Dashboard</a:t>
            </a:r>
          </a:p>
        </p:txBody>
      </p:sp>
      <p:sp>
        <p:nvSpPr>
          <p:cNvPr id="35" name="Rounded Rectangle 34"/>
          <p:cNvSpPr/>
          <p:nvPr/>
        </p:nvSpPr>
        <p:spPr>
          <a:xfrm>
            <a:off x="8121333" y="3505000"/>
            <a:ext cx="1605333" cy="4000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950" b="1">
                <a:solidFill>
                  <a:srgbClr val="FFFFFF"/>
                </a:solidFill>
                <a:latin typeface="Arial"/>
              </a:rPr>
              <a:t>Risk Explorer</a:t>
            </a:r>
          </a:p>
        </p:txBody>
      </p:sp>
      <p:sp>
        <p:nvSpPr>
          <p:cNvPr id="36" name="Rounded Rectangle 35"/>
          <p:cNvSpPr/>
          <p:nvPr/>
        </p:nvSpPr>
        <p:spPr>
          <a:xfrm>
            <a:off x="9816666" y="3505000"/>
            <a:ext cx="1605333" cy="400000"/>
          </a:xfrm>
          <a:prstGeom prst="roundRect">
            <a:avLst>
              <a:gd name="adj" fmla="val 50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950" b="1">
                <a:solidFill>
                  <a:srgbClr val="FFFFFF"/>
                </a:solidFill>
                <a:latin typeface="Arial"/>
              </a:rPr>
              <a:t>Scenario Simulator</a:t>
            </a:r>
          </a:p>
        </p:txBody>
      </p:sp>
      <p:sp>
        <p:nvSpPr>
          <p:cNvPr id="37" name="Rounded Rectangle 36"/>
          <p:cNvSpPr/>
          <p:nvPr/>
        </p:nvSpPr>
        <p:spPr>
          <a:xfrm>
            <a:off x="6426000" y="3975000"/>
            <a:ext cx="2453000" cy="400000"/>
          </a:xfrm>
          <a:prstGeom prst="roundRect">
            <a:avLst>
              <a:gd name="adj" fmla="val 50000"/>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950" b="1">
                <a:solidFill>
                  <a:srgbClr val="FFFFFF"/>
                </a:solidFill>
                <a:latin typeface="Arial"/>
              </a:rPr>
              <a:t>Investment Optimizer</a:t>
            </a:r>
          </a:p>
        </p:txBody>
      </p:sp>
      <p:sp>
        <p:nvSpPr>
          <p:cNvPr id="38" name="Rounded Rectangle 37"/>
          <p:cNvSpPr/>
          <p:nvPr/>
        </p:nvSpPr>
        <p:spPr>
          <a:xfrm>
            <a:off x="8969000" y="3975000"/>
            <a:ext cx="2453000" cy="400000"/>
          </a:xfrm>
          <a:prstGeom prst="roundRect">
            <a:avLst>
              <a:gd name="adj" fmla="val 50000"/>
            </a:avLst>
          </a:prstGeom>
          <a:solidFill>
            <a:srgbClr val="058A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tIns="10000" bIns="10000"/>
          <a:lstStyle/>
          <a:p>
            <a:pPr algn="ctr"/>
            <a:r>
              <a:rPr sz="950" b="1">
                <a:solidFill>
                  <a:srgbClr val="FFFFFF"/>
                </a:solidFill>
                <a:latin typeface="Arial"/>
              </a:rPr>
              <a:t>AI Assistant</a:t>
            </a:r>
          </a:p>
        </p:txBody>
      </p:sp>
      <p:sp>
        <p:nvSpPr>
          <p:cNvPr id="39" name="TextBox 38"/>
          <p:cNvSpPr txBox="1"/>
          <p:nvPr/>
        </p:nvSpPr>
        <p:spPr>
          <a:xfrm>
            <a:off x="6426000" y="4475000"/>
            <a:ext cx="4996000" cy="400000"/>
          </a:xfrm>
          <a:prstGeom prst="rect">
            <a:avLst/>
          </a:prstGeom>
          <a:noFill/>
        </p:spPr>
        <p:txBody>
          <a:bodyPr wrap="square" lIns="0" rIns="0" tIns="0" bIns="0" anchor="t">
            <a:spAutoFit/>
          </a:bodyPr>
          <a:lstStyle/>
          <a:p>
            <a:pPr algn="l">
              <a:lnSpc>
                <a:spcPct val="100000"/>
              </a:lnSpc>
            </a:pPr>
            <a:r>
              <a:rPr sz="1000" b="0" i="1">
                <a:solidFill>
                  <a:srgbClr val="F8FAFC"/>
                </a:solidFill>
                <a:latin typeface="Arial"/>
              </a:rPr>
              <a:t>Explore the working demo → sentra-risk.vercel.app</a:t>
            </a:r>
          </a:p>
        </p:txBody>
      </p:sp>
      <p:sp>
        <p:nvSpPr>
          <p:cNvPr id="40" name="Rectangle 39"/>
          <p:cNvSpPr/>
          <p:nvPr/>
        </p:nvSpPr>
        <p:spPr>
          <a:xfrm>
            <a:off x="0" y="6528000"/>
            <a:ext cx="12192000" cy="330000"/>
          </a:xfrm>
          <a:prstGeom prst="rect">
            <a:avLst/>
          </a:prstGeom>
          <a:solidFill>
            <a:srgbClr val="0B19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0000" y="6528000"/>
            <a:ext cx="9500000" cy="330000"/>
          </a:xfrm>
          <a:prstGeom prst="rect">
            <a:avLst/>
          </a:prstGeom>
          <a:noFill/>
        </p:spPr>
        <p:txBody>
          <a:bodyPr wrap="square" lIns="0" rIns="0" tIns="0" bIns="0" anchor="ctr">
            <a:spAutoFit/>
          </a:bodyPr>
          <a:lstStyle/>
          <a:p>
            <a:pPr algn="l">
              <a:lnSpc>
                <a:spcPct val="100000"/>
              </a:lnSpc>
            </a:pPr>
            <a:r>
              <a:rPr sz="1100" b="0" i="0">
                <a:solidFill>
                  <a:srgbClr val="F8FAFC"/>
                </a:solidFill>
                <a:latin typeface="Arial"/>
              </a:rPr>
              <a:t>Sentra Risk | Team Risk ML  •  SIH26105</a:t>
            </a:r>
          </a:p>
        </p:txBody>
      </p:sp>
      <p:sp>
        <p:nvSpPr>
          <p:cNvPr id="42" name="TextBox 41"/>
          <p:cNvSpPr txBox="1"/>
          <p:nvPr/>
        </p:nvSpPr>
        <p:spPr>
          <a:xfrm>
            <a:off x="11492000" y="6528000"/>
            <a:ext cx="500000" cy="330000"/>
          </a:xfrm>
          <a:prstGeom prst="rect">
            <a:avLst/>
          </a:prstGeom>
          <a:noFill/>
        </p:spPr>
        <p:txBody>
          <a:bodyPr wrap="square" lIns="0" rIns="0" tIns="0" bIns="0" anchor="ctr">
            <a:spAutoFit/>
          </a:bodyPr>
          <a:lstStyle/>
          <a:p>
            <a:pPr algn="ctr">
              <a:lnSpc>
                <a:spcPct val="100000"/>
              </a:lnSpc>
            </a:pPr>
            <a:r>
              <a:rPr sz="1400" b="1" i="0">
                <a:solidFill>
                  <a:srgbClr val="FFFFFF"/>
                </a:solidFill>
                <a:latin typeface="Arial"/>
              </a:rPr>
              <a:t>6</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